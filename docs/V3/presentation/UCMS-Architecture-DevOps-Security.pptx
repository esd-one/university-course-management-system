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System &amp; Microservices Architecture" id="{2d888b75-8e79-3751-d17e-adca81deece7}">
          <p14:sldIdLst>
            <p14:sldId id="258"/>
          </p14:sldIdLst>
        </p14:section>
        <p14:section name="Default-1" id="{364772de-d995-e5f9-c192-c7555a87a383}">
          <p14:sldIdLst>
            <p14:sldId id="259"/>
            <p14:sldId id="260"/>
            <p14:sldId id="261"/>
          </p14:sldIdLst>
        </p14:section>
        <p14:section name="2. DevOps &amp; CI/CD" id="{459555bf-050d-3408-77f8-0f2321683d79}">
          <p14:sldIdLst>
            <p14:sldId id="262"/>
          </p14:sldIdLst>
        </p14:section>
        <p14:section name="Default-2" id="{174fc43b-5287-395a-b713-14c698b25752}">
          <p14:sldIdLst>
            <p14:sldId id="263"/>
            <p14:sldId id="264"/>
          </p14:sldIdLst>
        </p14:section>
        <p14:section name="3. Service Communication" id="{54336743-dabe-8ab7-b658-01da3504668e}">
          <p14:sldIdLst>
            <p14:sldId id="265"/>
          </p14:sldIdLst>
        </p14:section>
        <p14:section name="Default-3" id="{7e4c7c85-6efc-59d0-97b8-531ca70ca0fb}">
          <p14:sldIdLst>
            <p14:sldId id="266"/>
            <p14:sldId id="267"/>
            <p14:sldId id="268"/>
          </p14:sldIdLst>
        </p14:section>
        <p14:section name="4. Data, Transactions &amp; Schema Design" id="{099df3e3-108b-289d-f5ee-8282d84a74b4}">
          <p14:sldIdLst>
            <p14:sldId id="269"/>
          </p14:sldIdLst>
        </p14:section>
        <p14:section name="Default-4" id="{e6af3bf0-f447-4288-a406-2fb645098e2d}">
          <p14:sldIdLst>
            <p14:sldId id="270"/>
            <p14:sldId id="271"/>
            <p14:sldId id="272"/>
          </p14:sldIdLst>
        </p14:section>
        <p14:section name="5. Entity Relationships" id="{da28ed59-0ede-4a7c-5b68-0042b916f8dd}">
          <p14:sldIdLst>
            <p14:sldId id="273"/>
          </p14:sldIdLst>
        </p14:section>
        <p14:section name="Default-5" id="{7b839b84-1c9c-69a5-0b24-e0cd68b4f53b}">
          <p14:sldIdLst>
            <p14:sldId id="274"/>
            <p14:sldId id="275"/>
            <p14:sldId id="276"/>
            <p14:sldId id="277"/>
            <p14:sldId id="278"/>
            <p14:sldId id="279"/>
          </p14:sldIdLst>
        </p14:section>
        <p14:section name="6. Deployment, Scaling &amp; Reliability" id="{b5d834b7-4e57-e7a7-c906-7e2fe152441e}">
          <p14:sldIdLst>
            <p14:sldId id="280"/>
          </p14:sldIdLst>
        </p14:section>
        <p14:section name="Default-6" id="{b4e01c0a-0565-3f20-26b0-1e56a26f106f}">
          <p14:sldIdLst>
            <p14:sldId id="281"/>
            <p14:sldId id="282"/>
            <p14:sldId id="283"/>
          </p14:sldIdLst>
        </p14:section>
        <p14:section name="7. Security &amp; Rate Limiting" id="{ed5c0270-e8a2-e5ee-65bc-acc649947a45}">
          <p14:sldIdLst>
            <p14:sldId id="284"/>
          </p14:sldIdLst>
        </p14:section>
        <p14:section name="Default-7" id="{498e5b8e-2053-de22-0a35-203066a7f343}">
          <p14:sldIdLst>
            <p14:sldId id="285"/>
            <p14:sldId id="286"/>
          </p14:sldIdLst>
        </p14:section>
        <p14:section name="8. Testing &amp; Quality" id="{ecc70180-724b-1c25-2204-7036c62f6f7a}">
          <p14:sldIdLst>
            <p14:sldId id="287"/>
          </p14:sldIdLst>
        </p14:section>
        <p14:section name="Default-8" id="{a9878afd-b886-ee52-aa63-f4cd89cb6aef}">
          <p14:sldIdLst>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I'll walk through the architecture of our University Course Management System — not just what we built, but why we built it this way. We'll cover the microservices design and the reasoning behind it, the DevOps pipeline that builds and deploys it, how the seven services actually talk to each other, the transactional design inside the database, the entity relationships across schemas, and finally how we load-balance, secure, rate-limit and test the whole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We'll move from the big picture down to the details: architecture first, then how we build and ship it, then how the pieces talk to each other, then the database design underneath, then how it's deployed and kept reliable, how it's secured, and finally how we know all of this actually works — through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architecture. UCMS is built as seven independent microservices sitting behind an API gateway, each with its own database schema. The question worth answering first isn't what the services are — it's why we chose this shape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microservices instead of one large application? Five concrete reasons, all things we can point to in the running system rather than theory. First, independent deployability — we added four entire new services over the life of this project without redeploying or even recompiling the first three. Second, failure isolation — we actually tested this: we killed a running service container in the middle of live traffic, and every single request still succeeded because the load balancer and circuit breaker routed around it. Third, independent scaling — the enrollment service and the notification service run two copies each, because enrollment traffic spikes hard at the start of a term and notification holds many long-lived connections, while a service like analytics barely needs more than one copy. Fourth, each service maps to one bounded piece of how a university actually works. And finally, this isn't a whiteboard diagram — these are the actual folders and Docker images in our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system at a glance. Every request from the browser goes through nginx, then the API gateway, which routes to one of seven services. Each service owns its own schema inside one shared PostgreSQL database — I'll explain why it's one database but separate schemas on the next slide. Underneath, RabbitMQ carries events between services that don't need to talk synchronously, Redis backs the cache, the rate limiter and logout revocation, and MinIO stores uploaded files like assignment submissions.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one shared schema, or seven separate database servers? We chose the middle path: one Postgres instance — so there's only one thing to back up and monitor — but each service gets its own schema and its own database login that can only see its own schema. This isn't just a naming convention, it's enforced by Postgres grants. And we never create a real foreign key across two schemas — if enrollment needs to reference a student, it stores a plain UUID with a comment, not a constraint, because a real cross-schema foreign key would mean every write in one service has to coordinate with another service's schema, which breaks the whole point of having separate services. And one more thing we enforce everywhere: every table that can change carries the same seven audit columns, so 'who changed this and when' is always answerable the same way, anywhere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DevOps side — how code actually gets from a developer's laptop into production, and why we built the pipeline the way we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deliberate choices here. Every single push, on every branch, runs the full build and test suite and a security scan — not just the branches we deploy. That way a feature branch is already known-good before it's ever merged. Only three branches actually deploy: develop, release and main. Jenkins lives on the exact same server it deploys to, which sounds simple but removes an entire category of bugs where a deploy script can't reach the target machine or the right credentials aren't available. And the biggest operational change we made: instead of just restarting containers — which causes a brief outage every single release — we now start the new version alongside the old one, wait until it's actually healthy, and only then retire the old version. We proved this works: during a live redeploy under constant traffic, 686 out of 686 requests succeeded. Zero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pipeline end to end. A push triggers Jenkins, which checks out the code, builds every service and runs all 239 tests, packages eight Spring Boot jars, builds the Angular frontend, and runs a security scan with Trivy and npm audit. If it's a feature branch, that's the end — verified, not deployed. If it's develop, release or main, the pipeline continues: it copies the build artifacts, scans the container images that are about to go live, then hands off to our rolling deploy script, which only replaces old containers once new ones are confirmed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do seven independent services actually talk to each other? We use two different patterns, and which one applies depends on whether the caller needs an answer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plain REST over HTTP, used whenever a service needs an answer right now to complete its own work — for example, before Enrollment can accept a student into a course, it has to ask Academic Structure whether that course offering still has seats and is actually open. Every one of these calls is authenticated with its own Keycloak service token — not one shared secret for everything, but a separate client per service, each holding only the specific roles it actually needs. Notification, for instance, is allowed to call Identity but not Academic Structure — and we have an automated test that proves exactly that boundary is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pattern is asynchronous, over RabbitMQ. We use this whenever the caller doesn't need to wait for the answer — enrolling a student shouldn't be blocked on whether the notification service happens to be up at that exact moment. Events are published to one topic exchange, and each consumer — Notification, Analytics — binds its own queue with its own routing pattern. That means we can add a brand new consumer of these events without changing a single line in the service that publishes them. Because RabbitMQ guarantees at-least-once delivery, not exactly-once, every consumer has to be idempotent — Notification, for example, checks whether it's already handled this exact event id before creating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this concrete with one real example: a student enrolling in a course. The browser calls the gateway, which verifies the token, checks the rate limit, and forwards to an enrollment service replica. Enrollment synchronously asks Academic Structure whether the offering has room — that's the synchronous path. It then runs one local database transaction to record the enrollment, and only after that transaction commits does it publish an event onto RabbitMQ. From there, Notification and Analytics each independently pick up that event — Notification to push a live update and an email, Analytics to mark its dashboards as needing a recompute. Enrollment itself never waits for either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was specifically requested: let's go inside the database and look at what a transaction actually does, step by step, and how we keep data consistent both within one schema and across schemas.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real transaction, exactly as it runs in the enrollment schema. It opens, takes a Postgres advisory lock keyed on the course offering id — this is important: we don't have a seat-counter row to lock, because the capacity actually lives in a different service's schema, so an advisory lock is how we safely serialize two students trying to grab the last seat in the same course at the same moment. It checks for an existing enrollment, counts how many seats are taken, and either enrolls or waitlists the student, writes an audit log row, and commits. Only after that commit succeeds does it publish the event — if anything fails before the commit, the whole thing rolls back as if it never happened, and no event is ever sent for something that didn't actually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shows why doing this as a single transaction matters. When a student drops a course, and that drop frees a seat, the very next waitlisted student is automatically promoted to enrolled — all inside the same transaction as the drop itself. Because it's one transaction, there's no window where the system could crash between the drop and the promotion and leave a seat open with nobody properly promoted into it. It either both happened, or neither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what happens when a change needs to cross a schema boundary. A lecturer posts a grade — that's one local transaction entirely inside the assignment_grading schema. Once it commits, an event goes out. The notification service picks it up and runs its OWN separate local transaction inside its own schema — it checks whether it's already processed this exact event for this user, reads the student's notification preferences, and inserts the notification. Two independent, fully-local transactions, linked only by an event. This is eventual consistency by design — never a distributed transaction spanning two schemas — and the idempotency check is exactly what makes 'deliver at least once' safe to 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tables themselves — just the tables and how they relate, without getting into individual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key before we look at the diagrams. A box is a table — just its name, no columns, because the interesting thing to understand at this level is which tables exist and how they relate, not every field in them. A solid line with a crow's foot is a real, database-enforced foreign key within the same schema. A dashed line, labelled with the actual column name, is a cross-schema reference — a plain id column, deliberately not a real foreign key, for the reasons I covered earlier. And each grouped box is one service's schema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identity_access schema: users, roles, permissions, role_permissions, role_scope_assignments, assignment_permission_overrides, and user_sessions. A user has one role; a role is granted a set of permissions; and a role_scope_assignment lets a user be granted a role within a specific scope — for example, as a department head over just one department — with individual permission overrides layered on top of that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academic schema: course_catalog is the master list of courses that exist; degree_programs builds its curriculum from that catalog through program_courses; and a course template actually gets offered in a given year as a course_academic_years row — what we call an offering — inside an academic_years and semesters calendar. That offering is where capacity, the assigned lecturer, and the enrollment window actually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smaller schemas side by side. Base holds faculties, departments, grading scales and course categories — the institution's shared reference data. Enrollment holds the actual registration records — program enrollments and course enrollments — and a single registration_log table that every one of those tables writes to, so there's one place to see the full audit trail of who registered, dropped, waitlisted or got promoted,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smaller schemas together. In assignment_grading, a submission is graded once, producing a grade row. In notification, a user's notification_preferences decide which categories of notification are actually delivered to them. And in analytics, scheduled_reports run on a timer and feed into the same reports table used for on-demand generation, while dashboard_snapshots cache the computed numbers so dashboards load instantly instead of recomputing on every page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everything together — every dashed line on this diagram is a cross-schema reference. An offering stores the lecturer's id, pointing into identity_access, but there's no foreign key enforcing it — the owning schema, identity_access, could evolve its own users table without needing to coordinate a migration across six other codebases. A department head's scope assignment points at a department id in the base schema. A course enrollment points at both a student in identity_access and an offering in academic. Ownership of each table always stays with exactly one service; consistency across these dashed lines is handled by the application layer — validated through synchronous calls when it matters immediately, and through events when it doesn't — never by a database constraint spanning two schemas.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how this actually runs in production — the containers, the networks, and how we balance load and deploy without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deployment topology. One Docker host runs everything, but it's split into three networks. The edge network is the only one reachable from the internet. The app network holds the gateway and the services. The data network holds Postgres, RabbitMQ and MinIO. The web container — the one thing exposed to the public internet — sits only on the edge network, so even if it were compromised, it has no network route at all to the database. We verified this directly: from inside the web container, the database hostname simply doesn't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balancing happens at three layers, each doing the same basic job — spread traffic across healthy replicas and route around unhealthy ones — but at different points in the request path. nginx spreads incoming traffic across gateway replicas. The gateway spreads traffic across service replicas, using DNS to discover every running replica of a service, health-checking each one every five seconds, and opening a circuit breaker — returning an immediate, clean error — when a service is failing, instead of making callers wait on it. And every service-to-service call uses the exact same pattern when it talks to another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how a deploy actually happens without anyone noticing. New replicas of the new version start up right next to the old ones. The deploy script waits until the new ones report healthy — if one never does, it aborts and the old version just keeps serving traffic, nothing is lost. Only once the new version is confirmed healthy and the load balancers have had time to discover it do the old replicas get stopped, and even then gracefully, finishing any request already in flight. We measured this for real: while continuously sending requests during an actual redeploy, 686 out of 686 succeeded.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rate limiting. These work together — rate limiting is itself a security control against abuse, so I'll cover them as one connected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in three groups. At the edge: the application is only reachable over HTTPS at our real domain now, with a strict content security policy, HSTS, and the usual browser-protection headers — and Keycloak's own admin console, which used to be reachable from the public internet, now returns a plain 404 from outside. On identity: passwords must be 12 to 128 characters and can't reuse the last few, Keycloak locks out repeated failed logins, and every login and admin action is logged. We also built two-factor login for administrators — tested working both on and off, just not switched on yet until every admin has an authenticator app. And on containers: every service runs as a non-root user on a read-only filesystem with every Linux capability dropped, and the network is split so the one internet-facing container literally cannot reach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limiting works at two layers. nginx limits by client IP address before a request even reaches a service — generous limits, because a whole computer lab can sit behind one shared IP address, so this is really just a flood guard. The real per-account protection against password guessing is Keycloak's own lockout. The second layer is the gateway, which limits per signed-in user, with the count shared across every gateway replica through Redis, so a user can't dodge the limit by being routed to a different replica. Different actions get different limits — enrollment writes are tight, because the real risk is a script hammering the enrollment window, while ordinary reads are generous. Go over the limit and you get a 429 with a Retry-After header telling you exactly how long to wait, and the app surfaces that message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 how do we actually know everything I've just described works? Through five layers of testing, each one checking something the layer below it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from fastest and most numerous at the top, to slowest and most end-to-end at the bottom. 239 unit and integration tests run in every single build and check each service in isolation. 66 end-to-end steps drive the real running stack through the real gateway, starting with an actual Keycloak login and walking all the way through enrolling, grading, notifying and reporting. 13 checks specifically target the edge and the containers — things like confirming the Keycloak admin console is actually blocked, and that killing a replica doesn't lose a request. 5 checks run in a real headless browser to confirm the strict security policy doesn't break anything a real user would do. And finally, the operational proof — 686 out of 686 real requests succeeding during an actual live redeploy. Running alongside all of this, independent of the pyramid, is a dependency and image vulnerability scan on every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summarize where this leaves us. Seven microservices, eight database schemas, 239 automated unit and integration tests, 66 end-to-end steps, load balancing operating at every layer of the stack, and zero content security policy violations in real browser testing. The important point isn't the list of features — it's that every single thing I've described in this presentation, we actually measured. We didn't just design for failure isolation; we killed a container and counted the successful requests. We didn't just design for zero-downtime deploys; we redeployed live and counted 686 out of 686. We're honest about what's still open too — our current dependency versions carry known vulnerabilities, which is why the security scan currently just reports rather than blocking a build, and we have a planned upgrade to close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I'm happy to take any questions — about the architecture, the testing, the deployment pipeline, or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F5F5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5F5B"/>
          </a:solidFill>
          <a:ln/>
        </p:spPr>
      </p:sp>
      <p:sp>
        <p:nvSpPr>
          <p:cNvPr id="3" name="Shape 1"/>
          <p:cNvSpPr/>
          <p:nvPr/>
        </p:nvSpPr>
        <p:spPr>
          <a:xfrm>
            <a:off x="0" y="4160520"/>
            <a:ext cx="12191695" cy="27432"/>
          </a:xfrm>
          <a:prstGeom prst="rect">
            <a:avLst/>
          </a:prstGeom>
          <a:solidFill>
            <a:srgbClr val="C98A3B"/>
          </a:solidFill>
          <a:ln/>
        </p:spPr>
      </p:sp>
      <p:sp>
        <p:nvSpPr>
          <p:cNvPr id="4" name="Text 2"/>
          <p:cNvSpPr/>
          <p:nvPr>
            <p:ph idx="102" type="title" hasCustomPrompt="1"/>
          </p:nvPr>
        </p:nvSpPr>
        <p:spPr>
          <a:xfrm>
            <a:off x="822960" y="2331720"/>
            <a:ext cx="10515600"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5" name="Text 2"/>
          <p:cNvSpPr/>
          <p:nvPr>
            <p:ph idx="103" type="body" hasCustomPrompt="1"/>
          </p:nvPr>
        </p:nvSpPr>
        <p:spPr>
          <a:xfrm>
            <a:off x="822960" y="4343400"/>
            <a:ext cx="9875520" cy="1097280"/>
          </a:xfrm>
          <a:prstGeom prst="rect">
            <a:avLst/>
          </a:prstGeom>
          <a:noFill/>
          <a:ln/>
        </p:spPr>
        <p:txBody>
          <a:bodyPr wrap="square" rtlCol="0"/>
          <a:lstStyle>
            <a:lvl1pPr algn="l" indent="0" marL="0">
              <a:buNone/>
              <a:defRPr lang="en-US" sz="1700" dirty="0">
                <a:solidFill>
                  <a:srgbClr val="F6EBDD"/>
                </a:solidFill>
                <a:latin typeface="Calibri" pitchFamily="34" charset="0"/>
                <a:ea typeface="Calibri" pitchFamily="34" charset="-122"/>
                <a:cs typeface="Calibri" pitchFamily="34" charset="-120"/>
              </a:defRPr>
            </a:lvl1pPr>
          </a:lstStyle>
          <a:p>
            <a:pPr algn="l" indent="0" marL="0">
              <a:buNone/>
            </a:pPr>
            <a:endParaRPr lang="en-US" sz="1700" dirty="0"/>
          </a:p>
        </p:txBody>
      </p:sp>
      <p:sp>
        <p:nvSpPr>
          <p:cNvPr id="6" name="Text 2"/>
          <p:cNvSpPr txBox="1"/>
          <p:nvPr/>
        </p:nvSpPr>
        <p:spPr>
          <a:xfrm>
            <a:off x="822960" y="502920"/>
            <a:ext cx="7315200" cy="365760"/>
          </a:xfrm>
          <a:prstGeom prst="rect">
            <a:avLst/>
          </a:prstGeom>
          <a:noFill/>
          <a:ln/>
        </p:spPr>
        <p:txBody>
          <a:bodyPr wrap="square" rtlCol="0" anchor="ctr"/>
          <a:lstStyle/>
          <a:p>
            <a:pPr indent="0" marL="0">
              <a:buNone/>
            </a:pPr>
            <a:r>
              <a:rPr lang="en-US" sz="1200" spc="100" kern="0" dirty="0">
                <a:solidFill>
                  <a:srgbClr val="8AA6A3"/>
                </a:solidFill>
                <a:latin typeface="Calibri" pitchFamily="34" charset="0"/>
                <a:ea typeface="Calibri" pitchFamily="34" charset="-122"/>
                <a:cs typeface="Calibri" pitchFamily="34" charset="-120"/>
              </a:rPr>
              <a:t>University Course Management System</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5F5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F5F5B"/>
          </a:solidFill>
          <a:ln/>
        </p:spPr>
      </p:sp>
      <p:sp>
        <p:nvSpPr>
          <p:cNvPr id="3" name="Text 1"/>
          <p:cNvSpPr txBox="1"/>
          <p:nvPr/>
        </p:nvSpPr>
        <p:spPr>
          <a:xfrm>
            <a:off x="822960" y="1965960"/>
            <a:ext cx="3657600" cy="1280160"/>
          </a:xfrm>
          <a:prstGeom prst="rect">
            <a:avLst/>
          </a:prstGeom>
          <a:noFill/>
          <a:ln/>
        </p:spPr>
        <p:txBody>
          <a:bodyPr wrap="square" rtlCol="0" anchor="ctr"/>
          <a:lstStyle/>
          <a:p>
            <a:pPr indent="0" marL="0">
              <a:buNone/>
            </a:pPr>
            <a:endParaRPr lang="en-US" sz="7200" dirty="0"/>
          </a:p>
        </p:txBody>
      </p:sp>
      <p:sp>
        <p:nvSpPr>
          <p:cNvPr id="4" name="Text 2"/>
          <p:cNvSpPr/>
          <p:nvPr>
            <p:ph idx="102" type="title" hasCustomPrompt="1"/>
          </p:nvPr>
        </p:nvSpPr>
        <p:spPr>
          <a:xfrm>
            <a:off x="822960" y="3246120"/>
            <a:ext cx="10241280" cy="118872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5" name="Text 2"/>
          <p:cNvSpPr/>
          <p:nvPr>
            <p:ph idx="103" type="body" hasCustomPrompt="1"/>
          </p:nvPr>
        </p:nvSpPr>
        <p:spPr>
          <a:xfrm>
            <a:off x="822960" y="4343400"/>
            <a:ext cx="9692640" cy="1005840"/>
          </a:xfrm>
          <a:prstGeom prst="rect">
            <a:avLst/>
          </a:prstGeom>
          <a:noFill/>
          <a:ln/>
        </p:spPr>
        <p:txBody>
          <a:bodyPr wrap="square" rtlCol="0"/>
          <a:lstStyle>
            <a:lvl1pPr algn="l" indent="0" marL="0">
              <a:buNone/>
              <a:defRPr lang="en-US" sz="1600" dirty="0">
                <a:solidFill>
                  <a:srgbClr val="F6EBDD"/>
                </a:solidFill>
                <a:latin typeface="Calibri" pitchFamily="34" charset="0"/>
                <a:ea typeface="Calibri" pitchFamily="34" charset="-122"/>
                <a:cs typeface="Calibri" pitchFamily="34" charset="-120"/>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EDF4F3"/>
          </a:solidFill>
          <a:ln/>
        </p:spPr>
      </p:sp>
      <p:sp>
        <p:nvSpPr>
          <p:cNvPr id="3" name="Text 1"/>
          <p:cNvSpPr/>
          <p:nvPr>
            <p:ph idx="101" type="title" hasCustomPrompt="1"/>
          </p:nvPr>
        </p:nvSpPr>
        <p:spPr>
          <a:xfrm>
            <a:off x="548640" y="164592"/>
            <a:ext cx="10607040" cy="640080"/>
          </a:xfrm>
          <a:prstGeom prst="rect">
            <a:avLst/>
          </a:prstGeom>
          <a:noFill/>
          <a:ln/>
        </p:spPr>
        <p:txBody>
          <a:bodyPr wrap="square" rtlCol="0"/>
          <a:lstStyle>
            <a:lvl1pPr algn="l" indent="0" marL="0">
              <a:buNone/>
              <a:defRPr lang="en-US" sz="2600" b="1" dirty="0">
                <a:solidFill>
                  <a:srgbClr val="1F5F5B"/>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4" name="Text 1"/>
          <p:cNvSpPr txBox="1"/>
          <p:nvPr/>
        </p:nvSpPr>
        <p:spPr>
          <a:xfrm>
            <a:off x="11064240" y="292608"/>
            <a:ext cx="914400" cy="365760"/>
          </a:xfrm>
          <a:prstGeom prst="rect">
            <a:avLst/>
          </a:prstGeom>
          <a:noFill/>
          <a:ln/>
        </p:spPr>
        <p:txBody>
          <a:bodyPr wrap="square" rtlCol="0" anchor="ctr"/>
          <a:lstStyle/>
          <a:p>
            <a:pPr algn="r" indent="0" marL="0">
              <a:buNone/>
            </a:pPr>
            <a:r>
              <a:rPr lang="en-US" sz="1100" b="1" dirty="0">
                <a:solidFill>
                  <a:srgbClr val="2F7D77"/>
                </a:solidFill>
                <a:latin typeface="Calibri" pitchFamily="34" charset="0"/>
                <a:ea typeface="Calibri" pitchFamily="34" charset="-122"/>
                <a:cs typeface="Calibri" pitchFamily="34" charset="-120"/>
              </a:rPr>
              <a:t>UCMS</a:t>
            </a:r>
            <a:endParaRPr lang="en-US" sz="1100" dirty="0"/>
          </a:p>
        </p:txBody>
      </p:sp>
      <p:sp>
        <p:nvSpPr>
          <p:cNvPr id="5" name="Text 2"/>
          <p:cNvSpPr/>
          <p:nvPr>
            <p:ph idx="103" type="body" hasCustomPrompt="1"/>
          </p:nvPr>
        </p:nvSpPr>
        <p:spPr>
          <a:xfrm>
            <a:off x="548640" y="1188720"/>
            <a:ext cx="11064240" cy="5212080"/>
          </a:xfrm>
          <a:prstGeom prst="rect">
            <a:avLst/>
          </a:prstGeom>
          <a:noFill/>
          <a:ln/>
        </p:spPr>
        <p:txBody>
          <a:bodyPr wrap="square" rtlCol="0"/>
          <a:lstStyle>
            <a:lvl1pPr algn="l" indent="0" marL="0">
              <a:buNone/>
              <a:defRPr lang="en-US" sz="1500" dirty="0">
                <a:solidFill>
                  <a:srgbClr val="16252A"/>
                </a:solidFill>
                <a:latin typeface="Calibri" pitchFamily="34" charset="0"/>
                <a:ea typeface="Calibri" pitchFamily="34" charset="-122"/>
                <a:cs typeface="Calibri" pitchFamily="34" charset="-120"/>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EDF4F3"/>
          </a:solidFill>
          <a:ln/>
        </p:spPr>
      </p:sp>
      <p:sp>
        <p:nvSpPr>
          <p:cNvPr id="3" name="Text 1"/>
          <p:cNvSpPr/>
          <p:nvPr>
            <p:ph idx="101" type="title" hasCustomPrompt="1"/>
          </p:nvPr>
        </p:nvSpPr>
        <p:spPr>
          <a:xfrm>
            <a:off x="548640" y="164592"/>
            <a:ext cx="10607040" cy="640080"/>
          </a:xfrm>
          <a:prstGeom prst="rect">
            <a:avLst/>
          </a:prstGeom>
          <a:noFill/>
          <a:ln/>
        </p:spPr>
        <p:txBody>
          <a:bodyPr wrap="square" rtlCol="0"/>
          <a:lstStyle>
            <a:lvl1pPr algn="l" indent="0" marL="0">
              <a:buNone/>
              <a:defRPr lang="en-US" sz="2600" b="1" dirty="0">
                <a:solidFill>
                  <a:srgbClr val="1F5F5B"/>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4" name="Text 1"/>
          <p:cNvSpPr txBox="1"/>
          <p:nvPr/>
        </p:nvSpPr>
        <p:spPr>
          <a:xfrm>
            <a:off x="11064240" y="292608"/>
            <a:ext cx="914400" cy="365760"/>
          </a:xfrm>
          <a:prstGeom prst="rect">
            <a:avLst/>
          </a:prstGeom>
          <a:noFill/>
          <a:ln/>
        </p:spPr>
        <p:txBody>
          <a:bodyPr wrap="square" rtlCol="0" anchor="ctr"/>
          <a:lstStyle/>
          <a:p>
            <a:pPr algn="r" indent="0" marL="0">
              <a:buNone/>
            </a:pPr>
            <a:r>
              <a:rPr lang="en-US" sz="1100" b="1" dirty="0">
                <a:solidFill>
                  <a:srgbClr val="2F7D77"/>
                </a:solidFill>
                <a:latin typeface="Calibri" pitchFamily="34" charset="0"/>
                <a:ea typeface="Calibri" pitchFamily="34" charset="-122"/>
                <a:cs typeface="Calibri" pitchFamily="34" charset="-120"/>
              </a:rPr>
              <a:t>UCMS</a:t>
            </a:r>
            <a:endParaRPr lang="en-US" sz="11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822960" y="2331720"/>
            <a:ext cx="10515600" cy="137160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Architecture, DevOps, Data &amp; Security</a:t>
            </a:r>
            <a:endParaRPr lang="en-US" sz="4000" dirty="0"/>
          </a:p>
        </p:txBody>
      </p:sp>
      <p:sp>
        <p:nvSpPr>
          <p:cNvPr id="3" name="Text 2"/>
          <p:cNvSpPr/>
          <p:nvPr>
            <p:ph idx="103" type="body" hasCustomPrompt="1"/>
          </p:nvPr>
        </p:nvSpPr>
        <p:spPr>
          <a:xfrm>
            <a:off x="822960" y="4343400"/>
            <a:ext cx="9875520" cy="1097280"/>
          </a:xfrm>
          <a:prstGeom prst="rect">
            <a:avLst/>
          </a:prstGeom>
          <a:noFill/>
          <a:ln/>
        </p:spPr>
        <p:txBody>
          <a:bodyPr wrap="square" rtlCol="0" anchor="t"/>
          <a:lstStyle/>
          <a:p>
            <a:pPr algn="l" indent="0" marL="0">
              <a:buNone/>
            </a:pPr>
            <a:r>
              <a:rPr lang="en-US" sz="1700" dirty="0">
                <a:solidFill>
                  <a:srgbClr val="F6EBDD"/>
                </a:solidFill>
                <a:latin typeface="Calibri" pitchFamily="34" charset="0"/>
                <a:ea typeface="Calibri" pitchFamily="34" charset="-122"/>
                <a:cs typeface="Calibri" pitchFamily="34" charset="-120"/>
              </a:rPr>
              <a:t>How UCMS is built: microservices and why, the Jenkins CI/CD pipeline, how services talk to each other, the transactional and relational design inside each schema, entity relationships, load balancing, deployment architecture, rate limiting, security hardening, and the test suites that verify all of it.</a:t>
            </a:r>
            <a:endParaRPr lang="en-US" sz="1700" dirty="0"/>
          </a:p>
        </p:txBody>
      </p:sp>
      <p:sp>
        <p:nvSpPr>
          <p:cNvPr id="4" name="Text 2"/>
          <p:cNvSpPr txBox="1"/>
          <p:nvPr/>
        </p:nvSpPr>
        <p:spPr>
          <a:xfrm>
            <a:off x="822960" y="5989320"/>
            <a:ext cx="7315200" cy="365760"/>
          </a:xfrm>
          <a:prstGeom prst="rect">
            <a:avLst/>
          </a:prstGeom>
          <a:noFill/>
          <a:ln/>
        </p:spPr>
        <p:txBody>
          <a:bodyPr wrap="square" lIns="0" tIns="0" rIns="0" bIns="0" rtlCol="0" anchor="ctr"/>
          <a:lstStyle/>
          <a:p>
            <a:pPr indent="0" marL="0">
              <a:buNone/>
            </a:pPr>
            <a:r>
              <a:rPr lang="en-US" sz="1300" dirty="0">
                <a:solidFill>
                  <a:srgbClr val="8AA6A3"/>
                </a:solidFill>
                <a:latin typeface="Calibri" pitchFamily="34" charset="0"/>
                <a:ea typeface="Calibri" pitchFamily="34" charset="-122"/>
                <a:cs typeface="Calibri" pitchFamily="34" charset="-120"/>
              </a:rPr>
              <a:t>Final Project Presentation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Agenda</a:t>
            </a:r>
            <a:endParaRPr lang="en-US" sz="2600" dirty="0"/>
          </a:p>
        </p:txBody>
      </p:sp>
      <p:sp>
        <p:nvSpPr>
          <p:cNvPr id="3" name="Text 1"/>
          <p:cNvSpPr txBox="1"/>
          <p:nvPr/>
        </p:nvSpPr>
        <p:spPr>
          <a:xfrm>
            <a:off x="548640" y="1234440"/>
            <a:ext cx="548640" cy="502920"/>
          </a:xfrm>
          <a:prstGeom prst="rect">
            <a:avLst/>
          </a:prstGeom>
          <a:noFill/>
          <a:ln/>
        </p:spPr>
        <p:txBody>
          <a:bodyPr wrap="square" lIns="0" tIns="0" rIns="0" bIns="0" rtlCol="0" anchor="ctr"/>
          <a:lstStyle/>
          <a:p>
            <a:pPr indent="0" marL="0">
              <a:buNone/>
            </a:pPr>
            <a:r>
              <a:rPr lang="en-US" sz="2400" b="1" dirty="0">
                <a:solidFill>
                  <a:srgbClr val="C98A3B"/>
                </a:solidFill>
                <a:latin typeface="Cambria" pitchFamily="34" charset="0"/>
                <a:ea typeface="Cambria" pitchFamily="34" charset="-122"/>
                <a:cs typeface="Cambria" pitchFamily="34" charset="-120"/>
              </a:rPr>
              <a:t>1</a:t>
            </a:r>
            <a:endParaRPr lang="en-US" sz="2400" dirty="0"/>
          </a:p>
        </p:txBody>
      </p:sp>
      <p:sp>
        <p:nvSpPr>
          <p:cNvPr id="4" name="Text 2"/>
          <p:cNvSpPr txBox="1"/>
          <p:nvPr/>
        </p:nvSpPr>
        <p:spPr>
          <a:xfrm>
            <a:off x="1143000" y="1207008"/>
            <a:ext cx="4800600" cy="320040"/>
          </a:xfrm>
          <a:prstGeom prst="rect">
            <a:avLst/>
          </a:prstGeom>
          <a:noFill/>
          <a:ln/>
        </p:spPr>
        <p:txBody>
          <a:bodyPr wrap="square" lIns="0" tIns="0" rIns="0" bIns="0" rtlCol="0" anchor="ctr"/>
          <a:lstStyle/>
          <a:p>
            <a:pPr indent="0" marL="0">
              <a:buNone/>
            </a:pPr>
            <a:r>
              <a:rPr lang="en-US" sz="1550" b="1" dirty="0">
                <a:solidFill>
                  <a:srgbClr val="1F5F5B"/>
                </a:solidFill>
                <a:latin typeface="Calibri" pitchFamily="34" charset="0"/>
                <a:ea typeface="Calibri" pitchFamily="34" charset="-122"/>
                <a:cs typeface="Calibri" pitchFamily="34" charset="-120"/>
              </a:rPr>
              <a:t>System &amp; Microservices Architecture</a:t>
            </a:r>
            <a:endParaRPr lang="en-US" sz="1550" dirty="0"/>
          </a:p>
        </p:txBody>
      </p:sp>
      <p:sp>
        <p:nvSpPr>
          <p:cNvPr id="5" name="Text 3"/>
          <p:cNvSpPr txBox="1"/>
          <p:nvPr/>
        </p:nvSpPr>
        <p:spPr>
          <a:xfrm>
            <a:off x="1143000" y="1508760"/>
            <a:ext cx="4800600" cy="502920"/>
          </a:xfrm>
          <a:prstGeom prst="rect">
            <a:avLst/>
          </a:prstGeom>
          <a:noFill/>
          <a:ln/>
        </p:spPr>
        <p:txBody>
          <a:bodyPr wrap="square" lIns="0" tIns="0" rIns="0" bIns="0" rtlCol="0" anchor="t"/>
          <a:lstStyle/>
          <a:p>
            <a:pPr indent="0" marL="0">
              <a:buNone/>
            </a:pPr>
            <a:r>
              <a:rPr lang="en-US" sz="1200" dirty="0">
                <a:solidFill>
                  <a:srgbClr val="3B4F56"/>
                </a:solidFill>
                <a:latin typeface="Calibri" pitchFamily="34" charset="0"/>
                <a:ea typeface="Calibri" pitchFamily="34" charset="-122"/>
                <a:cs typeface="Calibri" pitchFamily="34" charset="-120"/>
              </a:rPr>
              <a:t>Why microservices, why one schema per service</a:t>
            </a:r>
            <a:endParaRPr lang="en-US" sz="1200" dirty="0"/>
          </a:p>
        </p:txBody>
      </p:sp>
      <p:sp>
        <p:nvSpPr>
          <p:cNvPr id="6" name="Text 4"/>
          <p:cNvSpPr txBox="1"/>
          <p:nvPr/>
        </p:nvSpPr>
        <p:spPr>
          <a:xfrm>
            <a:off x="548640" y="2404872"/>
            <a:ext cx="548640" cy="502920"/>
          </a:xfrm>
          <a:prstGeom prst="rect">
            <a:avLst/>
          </a:prstGeom>
          <a:noFill/>
          <a:ln/>
        </p:spPr>
        <p:txBody>
          <a:bodyPr wrap="square" lIns="0" tIns="0" rIns="0" bIns="0" rtlCol="0" anchor="ctr"/>
          <a:lstStyle/>
          <a:p>
            <a:pPr indent="0" marL="0">
              <a:buNone/>
            </a:pPr>
            <a:r>
              <a:rPr lang="en-US" sz="2400" b="1" dirty="0">
                <a:solidFill>
                  <a:srgbClr val="C98A3B"/>
                </a:solidFill>
                <a:latin typeface="Cambria" pitchFamily="34" charset="0"/>
                <a:ea typeface="Cambria" pitchFamily="34" charset="-122"/>
                <a:cs typeface="Cambria" pitchFamily="34" charset="-120"/>
              </a:rPr>
              <a:t>2</a:t>
            </a:r>
            <a:endParaRPr lang="en-US" sz="2400" dirty="0"/>
          </a:p>
        </p:txBody>
      </p:sp>
      <p:sp>
        <p:nvSpPr>
          <p:cNvPr id="7" name="Text 5"/>
          <p:cNvSpPr txBox="1"/>
          <p:nvPr/>
        </p:nvSpPr>
        <p:spPr>
          <a:xfrm>
            <a:off x="1143000" y="2377440"/>
            <a:ext cx="4800600" cy="320040"/>
          </a:xfrm>
          <a:prstGeom prst="rect">
            <a:avLst/>
          </a:prstGeom>
          <a:noFill/>
          <a:ln/>
        </p:spPr>
        <p:txBody>
          <a:bodyPr wrap="square" lIns="0" tIns="0" rIns="0" bIns="0" rtlCol="0" anchor="ctr"/>
          <a:lstStyle/>
          <a:p>
            <a:pPr indent="0" marL="0">
              <a:buNone/>
            </a:pPr>
            <a:r>
              <a:rPr lang="en-US" sz="1550" b="1" dirty="0">
                <a:solidFill>
                  <a:srgbClr val="1F5F5B"/>
                </a:solidFill>
                <a:latin typeface="Calibri" pitchFamily="34" charset="0"/>
                <a:ea typeface="Calibri" pitchFamily="34" charset="-122"/>
                <a:cs typeface="Calibri" pitchFamily="34" charset="-120"/>
              </a:rPr>
              <a:t>DevOps &amp; CI/CD</a:t>
            </a:r>
            <a:endParaRPr lang="en-US" sz="1550" dirty="0"/>
          </a:p>
        </p:txBody>
      </p:sp>
      <p:sp>
        <p:nvSpPr>
          <p:cNvPr id="8" name="Text 6"/>
          <p:cNvSpPr txBox="1"/>
          <p:nvPr/>
        </p:nvSpPr>
        <p:spPr>
          <a:xfrm>
            <a:off x="1143000" y="2679192"/>
            <a:ext cx="4800600" cy="502920"/>
          </a:xfrm>
          <a:prstGeom prst="rect">
            <a:avLst/>
          </a:prstGeom>
          <a:noFill/>
          <a:ln/>
        </p:spPr>
        <p:txBody>
          <a:bodyPr wrap="square" lIns="0" tIns="0" rIns="0" bIns="0" rtlCol="0" anchor="t"/>
          <a:lstStyle/>
          <a:p>
            <a:pPr indent="0" marL="0">
              <a:buNone/>
            </a:pPr>
            <a:r>
              <a:rPr lang="en-US" sz="1200" dirty="0">
                <a:solidFill>
                  <a:srgbClr val="3B4F56"/>
                </a:solidFill>
                <a:latin typeface="Calibri" pitchFamily="34" charset="0"/>
                <a:ea typeface="Calibri" pitchFamily="34" charset="-122"/>
                <a:cs typeface="Calibri" pitchFamily="34" charset="-120"/>
              </a:rPr>
              <a:t>The Jenkins pipeline, and why each stage exists</a:t>
            </a:r>
            <a:endParaRPr lang="en-US" sz="1200" dirty="0"/>
          </a:p>
        </p:txBody>
      </p:sp>
      <p:sp>
        <p:nvSpPr>
          <p:cNvPr id="9" name="Text 7"/>
          <p:cNvSpPr txBox="1"/>
          <p:nvPr/>
        </p:nvSpPr>
        <p:spPr>
          <a:xfrm>
            <a:off x="548640" y="3575304"/>
            <a:ext cx="548640" cy="502920"/>
          </a:xfrm>
          <a:prstGeom prst="rect">
            <a:avLst/>
          </a:prstGeom>
          <a:noFill/>
          <a:ln/>
        </p:spPr>
        <p:txBody>
          <a:bodyPr wrap="square" lIns="0" tIns="0" rIns="0" bIns="0" rtlCol="0" anchor="ctr"/>
          <a:lstStyle/>
          <a:p>
            <a:pPr indent="0" marL="0">
              <a:buNone/>
            </a:pPr>
            <a:r>
              <a:rPr lang="en-US" sz="2400" b="1" dirty="0">
                <a:solidFill>
                  <a:srgbClr val="C98A3B"/>
                </a:solidFill>
                <a:latin typeface="Cambria" pitchFamily="34" charset="0"/>
                <a:ea typeface="Cambria" pitchFamily="34" charset="-122"/>
                <a:cs typeface="Cambria" pitchFamily="34" charset="-120"/>
              </a:rPr>
              <a:t>3</a:t>
            </a:r>
            <a:endParaRPr lang="en-US" sz="2400" dirty="0"/>
          </a:p>
        </p:txBody>
      </p:sp>
      <p:sp>
        <p:nvSpPr>
          <p:cNvPr id="10" name="Text 8"/>
          <p:cNvSpPr txBox="1"/>
          <p:nvPr/>
        </p:nvSpPr>
        <p:spPr>
          <a:xfrm>
            <a:off x="1143000" y="3547872"/>
            <a:ext cx="4800600" cy="320040"/>
          </a:xfrm>
          <a:prstGeom prst="rect">
            <a:avLst/>
          </a:prstGeom>
          <a:noFill/>
          <a:ln/>
        </p:spPr>
        <p:txBody>
          <a:bodyPr wrap="square" lIns="0" tIns="0" rIns="0" bIns="0" rtlCol="0" anchor="ctr"/>
          <a:lstStyle/>
          <a:p>
            <a:pPr indent="0" marL="0">
              <a:buNone/>
            </a:pPr>
            <a:r>
              <a:rPr lang="en-US" sz="1550" b="1" dirty="0">
                <a:solidFill>
                  <a:srgbClr val="1F5F5B"/>
                </a:solidFill>
                <a:latin typeface="Calibri" pitchFamily="34" charset="0"/>
                <a:ea typeface="Calibri" pitchFamily="34" charset="-122"/>
                <a:cs typeface="Calibri" pitchFamily="34" charset="-120"/>
              </a:rPr>
              <a:t>Service Communication</a:t>
            </a:r>
            <a:endParaRPr lang="en-US" sz="1550" dirty="0"/>
          </a:p>
        </p:txBody>
      </p:sp>
      <p:sp>
        <p:nvSpPr>
          <p:cNvPr id="11" name="Text 9"/>
          <p:cNvSpPr txBox="1"/>
          <p:nvPr/>
        </p:nvSpPr>
        <p:spPr>
          <a:xfrm>
            <a:off x="1143000" y="3849624"/>
            <a:ext cx="4800600" cy="502920"/>
          </a:xfrm>
          <a:prstGeom prst="rect">
            <a:avLst/>
          </a:prstGeom>
          <a:noFill/>
          <a:ln/>
        </p:spPr>
        <p:txBody>
          <a:bodyPr wrap="square" lIns="0" tIns="0" rIns="0" bIns="0" rtlCol="0" anchor="t"/>
          <a:lstStyle/>
          <a:p>
            <a:pPr indent="0" marL="0">
              <a:buNone/>
            </a:pPr>
            <a:r>
              <a:rPr lang="en-US" sz="1200" dirty="0">
                <a:solidFill>
                  <a:srgbClr val="3B4F56"/>
                </a:solidFill>
                <a:latin typeface="Calibri" pitchFamily="34" charset="0"/>
                <a:ea typeface="Calibri" pitchFamily="34" charset="-122"/>
                <a:cs typeface="Calibri" pitchFamily="34" charset="-120"/>
              </a:rPr>
              <a:t>Synchronous REST calls vs. asynchronous events</a:t>
            </a:r>
            <a:endParaRPr lang="en-US" sz="1200" dirty="0"/>
          </a:p>
        </p:txBody>
      </p:sp>
      <p:sp>
        <p:nvSpPr>
          <p:cNvPr id="12" name="Text 10"/>
          <p:cNvSpPr txBox="1"/>
          <p:nvPr/>
        </p:nvSpPr>
        <p:spPr>
          <a:xfrm>
            <a:off x="548640" y="4745736"/>
            <a:ext cx="548640" cy="502920"/>
          </a:xfrm>
          <a:prstGeom prst="rect">
            <a:avLst/>
          </a:prstGeom>
          <a:noFill/>
          <a:ln/>
        </p:spPr>
        <p:txBody>
          <a:bodyPr wrap="square" lIns="0" tIns="0" rIns="0" bIns="0" rtlCol="0" anchor="ctr"/>
          <a:lstStyle/>
          <a:p>
            <a:pPr indent="0" marL="0">
              <a:buNone/>
            </a:pPr>
            <a:r>
              <a:rPr lang="en-US" sz="2400" b="1" dirty="0">
                <a:solidFill>
                  <a:srgbClr val="C98A3B"/>
                </a:solidFill>
                <a:latin typeface="Cambria" pitchFamily="34" charset="0"/>
                <a:ea typeface="Cambria" pitchFamily="34" charset="-122"/>
                <a:cs typeface="Cambria" pitchFamily="34" charset="-120"/>
              </a:rPr>
              <a:t>4</a:t>
            </a:r>
            <a:endParaRPr lang="en-US" sz="2400" dirty="0"/>
          </a:p>
        </p:txBody>
      </p:sp>
      <p:sp>
        <p:nvSpPr>
          <p:cNvPr id="13" name="Text 11"/>
          <p:cNvSpPr txBox="1"/>
          <p:nvPr/>
        </p:nvSpPr>
        <p:spPr>
          <a:xfrm>
            <a:off x="1143000" y="4718304"/>
            <a:ext cx="4800600" cy="320040"/>
          </a:xfrm>
          <a:prstGeom prst="rect">
            <a:avLst/>
          </a:prstGeom>
          <a:noFill/>
          <a:ln/>
        </p:spPr>
        <p:txBody>
          <a:bodyPr wrap="square" lIns="0" tIns="0" rIns="0" bIns="0" rtlCol="0" anchor="ctr"/>
          <a:lstStyle/>
          <a:p>
            <a:pPr indent="0" marL="0">
              <a:buNone/>
            </a:pPr>
            <a:r>
              <a:rPr lang="en-US" sz="1550" b="1" dirty="0">
                <a:solidFill>
                  <a:srgbClr val="1F5F5B"/>
                </a:solidFill>
                <a:latin typeface="Calibri" pitchFamily="34" charset="0"/>
                <a:ea typeface="Calibri" pitchFamily="34" charset="-122"/>
                <a:cs typeface="Calibri" pitchFamily="34" charset="-120"/>
              </a:rPr>
              <a:t>Data, Transactions &amp; Schema Design</a:t>
            </a:r>
            <a:endParaRPr lang="en-US" sz="1550" dirty="0"/>
          </a:p>
        </p:txBody>
      </p:sp>
      <p:sp>
        <p:nvSpPr>
          <p:cNvPr id="14" name="Text 12"/>
          <p:cNvSpPr txBox="1"/>
          <p:nvPr/>
        </p:nvSpPr>
        <p:spPr>
          <a:xfrm>
            <a:off x="1143000" y="5020056"/>
            <a:ext cx="4800600" cy="502920"/>
          </a:xfrm>
          <a:prstGeom prst="rect">
            <a:avLst/>
          </a:prstGeom>
          <a:noFill/>
          <a:ln/>
        </p:spPr>
        <p:txBody>
          <a:bodyPr wrap="square" lIns="0" tIns="0" rIns="0" bIns="0" rtlCol="0" anchor="t"/>
          <a:lstStyle/>
          <a:p>
            <a:pPr indent="0" marL="0">
              <a:buNone/>
            </a:pPr>
            <a:r>
              <a:rPr lang="en-US" sz="1200" dirty="0">
                <a:solidFill>
                  <a:srgbClr val="3B4F56"/>
                </a:solidFill>
                <a:latin typeface="Calibri" pitchFamily="34" charset="0"/>
                <a:ea typeface="Calibri" pitchFamily="34" charset="-122"/>
                <a:cs typeface="Calibri" pitchFamily="34" charset="-120"/>
              </a:rPr>
              <a:t>What happens inside one database transaction</a:t>
            </a:r>
            <a:endParaRPr lang="en-US" sz="1200" dirty="0"/>
          </a:p>
        </p:txBody>
      </p:sp>
      <p:sp>
        <p:nvSpPr>
          <p:cNvPr id="15" name="Text 13"/>
          <p:cNvSpPr txBox="1"/>
          <p:nvPr/>
        </p:nvSpPr>
        <p:spPr>
          <a:xfrm>
            <a:off x="6217920" y="1234440"/>
            <a:ext cx="548640" cy="502920"/>
          </a:xfrm>
          <a:prstGeom prst="rect">
            <a:avLst/>
          </a:prstGeom>
          <a:noFill/>
          <a:ln/>
        </p:spPr>
        <p:txBody>
          <a:bodyPr wrap="square" lIns="0" tIns="0" rIns="0" bIns="0" rtlCol="0" anchor="ctr"/>
          <a:lstStyle/>
          <a:p>
            <a:pPr indent="0" marL="0">
              <a:buNone/>
            </a:pPr>
            <a:r>
              <a:rPr lang="en-US" sz="2400" b="1" dirty="0">
                <a:solidFill>
                  <a:srgbClr val="C98A3B"/>
                </a:solidFill>
                <a:latin typeface="Cambria" pitchFamily="34" charset="0"/>
                <a:ea typeface="Cambria" pitchFamily="34" charset="-122"/>
                <a:cs typeface="Cambria" pitchFamily="34" charset="-120"/>
              </a:rPr>
              <a:t>5</a:t>
            </a:r>
            <a:endParaRPr lang="en-US" sz="2400" dirty="0"/>
          </a:p>
        </p:txBody>
      </p:sp>
      <p:sp>
        <p:nvSpPr>
          <p:cNvPr id="16" name="Text 14"/>
          <p:cNvSpPr txBox="1"/>
          <p:nvPr/>
        </p:nvSpPr>
        <p:spPr>
          <a:xfrm>
            <a:off x="6812280" y="1207008"/>
            <a:ext cx="4800600" cy="320040"/>
          </a:xfrm>
          <a:prstGeom prst="rect">
            <a:avLst/>
          </a:prstGeom>
          <a:noFill/>
          <a:ln/>
        </p:spPr>
        <p:txBody>
          <a:bodyPr wrap="square" lIns="0" tIns="0" rIns="0" bIns="0" rtlCol="0" anchor="ctr"/>
          <a:lstStyle/>
          <a:p>
            <a:pPr indent="0" marL="0">
              <a:buNone/>
            </a:pPr>
            <a:r>
              <a:rPr lang="en-US" sz="1550" b="1" dirty="0">
                <a:solidFill>
                  <a:srgbClr val="1F5F5B"/>
                </a:solidFill>
                <a:latin typeface="Calibri" pitchFamily="34" charset="0"/>
                <a:ea typeface="Calibri" pitchFamily="34" charset="-122"/>
                <a:cs typeface="Calibri" pitchFamily="34" charset="-120"/>
              </a:rPr>
              <a:t>Entity Relationships</a:t>
            </a:r>
            <a:endParaRPr lang="en-US" sz="1550" dirty="0"/>
          </a:p>
        </p:txBody>
      </p:sp>
      <p:sp>
        <p:nvSpPr>
          <p:cNvPr id="17" name="Text 15"/>
          <p:cNvSpPr txBox="1"/>
          <p:nvPr/>
        </p:nvSpPr>
        <p:spPr>
          <a:xfrm>
            <a:off x="6812280" y="1508760"/>
            <a:ext cx="4800600" cy="502920"/>
          </a:xfrm>
          <a:prstGeom prst="rect">
            <a:avLst/>
          </a:prstGeom>
          <a:noFill/>
          <a:ln/>
        </p:spPr>
        <p:txBody>
          <a:bodyPr wrap="square" lIns="0" tIns="0" rIns="0" bIns="0" rtlCol="0" anchor="t"/>
          <a:lstStyle/>
          <a:p>
            <a:pPr indent="0" marL="0">
              <a:buNone/>
            </a:pPr>
            <a:r>
              <a:rPr lang="en-US" sz="1200" dirty="0">
                <a:solidFill>
                  <a:srgbClr val="3B4F56"/>
                </a:solidFill>
                <a:latin typeface="Calibri" pitchFamily="34" charset="0"/>
                <a:ea typeface="Calibri" pitchFamily="34" charset="-122"/>
                <a:cs typeface="Calibri" pitchFamily="34" charset="-120"/>
              </a:rPr>
              <a:t>The tables in every schema and how they connect</a:t>
            </a:r>
            <a:endParaRPr lang="en-US" sz="1200" dirty="0"/>
          </a:p>
        </p:txBody>
      </p:sp>
      <p:sp>
        <p:nvSpPr>
          <p:cNvPr id="18" name="Text 16"/>
          <p:cNvSpPr txBox="1"/>
          <p:nvPr/>
        </p:nvSpPr>
        <p:spPr>
          <a:xfrm>
            <a:off x="6217920" y="2404872"/>
            <a:ext cx="548640" cy="502920"/>
          </a:xfrm>
          <a:prstGeom prst="rect">
            <a:avLst/>
          </a:prstGeom>
          <a:noFill/>
          <a:ln/>
        </p:spPr>
        <p:txBody>
          <a:bodyPr wrap="square" lIns="0" tIns="0" rIns="0" bIns="0" rtlCol="0" anchor="ctr"/>
          <a:lstStyle/>
          <a:p>
            <a:pPr indent="0" marL="0">
              <a:buNone/>
            </a:pPr>
            <a:r>
              <a:rPr lang="en-US" sz="2400" b="1" dirty="0">
                <a:solidFill>
                  <a:srgbClr val="C98A3B"/>
                </a:solidFill>
                <a:latin typeface="Cambria" pitchFamily="34" charset="0"/>
                <a:ea typeface="Cambria" pitchFamily="34" charset="-122"/>
                <a:cs typeface="Cambria" pitchFamily="34" charset="-120"/>
              </a:rPr>
              <a:t>6</a:t>
            </a:r>
            <a:endParaRPr lang="en-US" sz="2400" dirty="0"/>
          </a:p>
        </p:txBody>
      </p:sp>
      <p:sp>
        <p:nvSpPr>
          <p:cNvPr id="19" name="Text 17"/>
          <p:cNvSpPr txBox="1"/>
          <p:nvPr/>
        </p:nvSpPr>
        <p:spPr>
          <a:xfrm>
            <a:off x="6812280" y="2377440"/>
            <a:ext cx="4800600" cy="320040"/>
          </a:xfrm>
          <a:prstGeom prst="rect">
            <a:avLst/>
          </a:prstGeom>
          <a:noFill/>
          <a:ln/>
        </p:spPr>
        <p:txBody>
          <a:bodyPr wrap="square" lIns="0" tIns="0" rIns="0" bIns="0" rtlCol="0" anchor="ctr"/>
          <a:lstStyle/>
          <a:p>
            <a:pPr indent="0" marL="0">
              <a:buNone/>
            </a:pPr>
            <a:r>
              <a:rPr lang="en-US" sz="1550" b="1" dirty="0">
                <a:solidFill>
                  <a:srgbClr val="1F5F5B"/>
                </a:solidFill>
                <a:latin typeface="Calibri" pitchFamily="34" charset="0"/>
                <a:ea typeface="Calibri" pitchFamily="34" charset="-122"/>
                <a:cs typeface="Calibri" pitchFamily="34" charset="-120"/>
              </a:rPr>
              <a:t>Deployment, Scaling &amp; Reliability</a:t>
            </a:r>
            <a:endParaRPr lang="en-US" sz="1550" dirty="0"/>
          </a:p>
        </p:txBody>
      </p:sp>
      <p:sp>
        <p:nvSpPr>
          <p:cNvPr id="20" name="Text 18"/>
          <p:cNvSpPr txBox="1"/>
          <p:nvPr/>
        </p:nvSpPr>
        <p:spPr>
          <a:xfrm>
            <a:off x="6812280" y="2679192"/>
            <a:ext cx="4800600" cy="502920"/>
          </a:xfrm>
          <a:prstGeom prst="rect">
            <a:avLst/>
          </a:prstGeom>
          <a:noFill/>
          <a:ln/>
        </p:spPr>
        <p:txBody>
          <a:bodyPr wrap="square" lIns="0" tIns="0" rIns="0" bIns="0" rtlCol="0" anchor="t"/>
          <a:lstStyle/>
          <a:p>
            <a:pPr indent="0" marL="0">
              <a:buNone/>
            </a:pPr>
            <a:r>
              <a:rPr lang="en-US" sz="1200" dirty="0">
                <a:solidFill>
                  <a:srgbClr val="3B4F56"/>
                </a:solidFill>
                <a:latin typeface="Calibri" pitchFamily="34" charset="0"/>
                <a:ea typeface="Calibri" pitchFamily="34" charset="-122"/>
                <a:cs typeface="Calibri" pitchFamily="34" charset="-120"/>
              </a:rPr>
              <a:t>Containers, load balancing, zero-downtime deploys</a:t>
            </a:r>
            <a:endParaRPr lang="en-US" sz="1200" dirty="0"/>
          </a:p>
        </p:txBody>
      </p:sp>
      <p:sp>
        <p:nvSpPr>
          <p:cNvPr id="21" name="Text 19"/>
          <p:cNvSpPr txBox="1"/>
          <p:nvPr/>
        </p:nvSpPr>
        <p:spPr>
          <a:xfrm>
            <a:off x="6217920" y="3575304"/>
            <a:ext cx="548640" cy="502920"/>
          </a:xfrm>
          <a:prstGeom prst="rect">
            <a:avLst/>
          </a:prstGeom>
          <a:noFill/>
          <a:ln/>
        </p:spPr>
        <p:txBody>
          <a:bodyPr wrap="square" lIns="0" tIns="0" rIns="0" bIns="0" rtlCol="0" anchor="ctr"/>
          <a:lstStyle/>
          <a:p>
            <a:pPr indent="0" marL="0">
              <a:buNone/>
            </a:pPr>
            <a:r>
              <a:rPr lang="en-US" sz="2400" b="1" dirty="0">
                <a:solidFill>
                  <a:srgbClr val="C98A3B"/>
                </a:solidFill>
                <a:latin typeface="Cambria" pitchFamily="34" charset="0"/>
                <a:ea typeface="Cambria" pitchFamily="34" charset="-122"/>
                <a:cs typeface="Cambria" pitchFamily="34" charset="-120"/>
              </a:rPr>
              <a:t>7</a:t>
            </a:r>
            <a:endParaRPr lang="en-US" sz="2400" dirty="0"/>
          </a:p>
        </p:txBody>
      </p:sp>
      <p:sp>
        <p:nvSpPr>
          <p:cNvPr id="22" name="Text 20"/>
          <p:cNvSpPr txBox="1"/>
          <p:nvPr/>
        </p:nvSpPr>
        <p:spPr>
          <a:xfrm>
            <a:off x="6812280" y="3547872"/>
            <a:ext cx="4800600" cy="320040"/>
          </a:xfrm>
          <a:prstGeom prst="rect">
            <a:avLst/>
          </a:prstGeom>
          <a:noFill/>
          <a:ln/>
        </p:spPr>
        <p:txBody>
          <a:bodyPr wrap="square" lIns="0" tIns="0" rIns="0" bIns="0" rtlCol="0" anchor="ctr"/>
          <a:lstStyle/>
          <a:p>
            <a:pPr indent="0" marL="0">
              <a:buNone/>
            </a:pPr>
            <a:r>
              <a:rPr lang="en-US" sz="1550" b="1" dirty="0">
                <a:solidFill>
                  <a:srgbClr val="1F5F5B"/>
                </a:solidFill>
                <a:latin typeface="Calibri" pitchFamily="34" charset="0"/>
                <a:ea typeface="Calibri" pitchFamily="34" charset="-122"/>
                <a:cs typeface="Calibri" pitchFamily="34" charset="-120"/>
              </a:rPr>
              <a:t>Security &amp; Rate Limiting</a:t>
            </a:r>
            <a:endParaRPr lang="en-US" sz="1550" dirty="0"/>
          </a:p>
        </p:txBody>
      </p:sp>
      <p:sp>
        <p:nvSpPr>
          <p:cNvPr id="23" name="Text 21"/>
          <p:cNvSpPr txBox="1"/>
          <p:nvPr/>
        </p:nvSpPr>
        <p:spPr>
          <a:xfrm>
            <a:off x="6812280" y="3849624"/>
            <a:ext cx="4800600" cy="502920"/>
          </a:xfrm>
          <a:prstGeom prst="rect">
            <a:avLst/>
          </a:prstGeom>
          <a:noFill/>
          <a:ln/>
        </p:spPr>
        <p:txBody>
          <a:bodyPr wrap="square" lIns="0" tIns="0" rIns="0" bIns="0" rtlCol="0" anchor="t"/>
          <a:lstStyle/>
          <a:p>
            <a:pPr indent="0" marL="0">
              <a:buNone/>
            </a:pPr>
            <a:r>
              <a:rPr lang="en-US" sz="1200" dirty="0">
                <a:solidFill>
                  <a:srgbClr val="3B4F56"/>
                </a:solidFill>
                <a:latin typeface="Calibri" pitchFamily="34" charset="0"/>
                <a:ea typeface="Calibri" pitchFamily="34" charset="-122"/>
                <a:cs typeface="Calibri" pitchFamily="34" charset="-120"/>
              </a:rPr>
              <a:t>What protects the system and its users</a:t>
            </a:r>
            <a:endParaRPr lang="en-US" sz="1200" dirty="0"/>
          </a:p>
        </p:txBody>
      </p:sp>
      <p:sp>
        <p:nvSpPr>
          <p:cNvPr id="24" name="Text 22"/>
          <p:cNvSpPr txBox="1"/>
          <p:nvPr/>
        </p:nvSpPr>
        <p:spPr>
          <a:xfrm>
            <a:off x="6217920" y="4745736"/>
            <a:ext cx="548640" cy="502920"/>
          </a:xfrm>
          <a:prstGeom prst="rect">
            <a:avLst/>
          </a:prstGeom>
          <a:noFill/>
          <a:ln/>
        </p:spPr>
        <p:txBody>
          <a:bodyPr wrap="square" lIns="0" tIns="0" rIns="0" bIns="0" rtlCol="0" anchor="ctr"/>
          <a:lstStyle/>
          <a:p>
            <a:pPr indent="0" marL="0">
              <a:buNone/>
            </a:pPr>
            <a:r>
              <a:rPr lang="en-US" sz="2400" b="1" dirty="0">
                <a:solidFill>
                  <a:srgbClr val="C98A3B"/>
                </a:solidFill>
                <a:latin typeface="Cambria" pitchFamily="34" charset="0"/>
                <a:ea typeface="Cambria" pitchFamily="34" charset="-122"/>
                <a:cs typeface="Cambria" pitchFamily="34" charset="-120"/>
              </a:rPr>
              <a:t>8</a:t>
            </a:r>
            <a:endParaRPr lang="en-US" sz="2400" dirty="0"/>
          </a:p>
        </p:txBody>
      </p:sp>
      <p:sp>
        <p:nvSpPr>
          <p:cNvPr id="25" name="Text 23"/>
          <p:cNvSpPr txBox="1"/>
          <p:nvPr/>
        </p:nvSpPr>
        <p:spPr>
          <a:xfrm>
            <a:off x="6812280" y="4718304"/>
            <a:ext cx="4800600" cy="320040"/>
          </a:xfrm>
          <a:prstGeom prst="rect">
            <a:avLst/>
          </a:prstGeom>
          <a:noFill/>
          <a:ln/>
        </p:spPr>
        <p:txBody>
          <a:bodyPr wrap="square" lIns="0" tIns="0" rIns="0" bIns="0" rtlCol="0" anchor="ctr"/>
          <a:lstStyle/>
          <a:p>
            <a:pPr indent="0" marL="0">
              <a:buNone/>
            </a:pPr>
            <a:r>
              <a:rPr lang="en-US" sz="1550" b="1" dirty="0">
                <a:solidFill>
                  <a:srgbClr val="1F5F5B"/>
                </a:solidFill>
                <a:latin typeface="Calibri" pitchFamily="34" charset="0"/>
                <a:ea typeface="Calibri" pitchFamily="34" charset="-122"/>
                <a:cs typeface="Calibri" pitchFamily="34" charset="-120"/>
              </a:rPr>
              <a:t>Testing &amp; Quality</a:t>
            </a:r>
            <a:endParaRPr lang="en-US" sz="1550" dirty="0"/>
          </a:p>
        </p:txBody>
      </p:sp>
      <p:sp>
        <p:nvSpPr>
          <p:cNvPr id="26" name="Text 24"/>
          <p:cNvSpPr txBox="1"/>
          <p:nvPr/>
        </p:nvSpPr>
        <p:spPr>
          <a:xfrm>
            <a:off x="6812280" y="5020056"/>
            <a:ext cx="4800600" cy="502920"/>
          </a:xfrm>
          <a:prstGeom prst="rect">
            <a:avLst/>
          </a:prstGeom>
          <a:noFill/>
          <a:ln/>
        </p:spPr>
        <p:txBody>
          <a:bodyPr wrap="square" lIns="0" tIns="0" rIns="0" bIns="0" rtlCol="0" anchor="t"/>
          <a:lstStyle/>
          <a:p>
            <a:pPr indent="0" marL="0">
              <a:buNone/>
            </a:pPr>
            <a:r>
              <a:rPr lang="en-US" sz="1200" dirty="0">
                <a:solidFill>
                  <a:srgbClr val="3B4F56"/>
                </a:solidFill>
                <a:latin typeface="Calibri" pitchFamily="34" charset="0"/>
                <a:ea typeface="Calibri" pitchFamily="34" charset="-122"/>
                <a:cs typeface="Calibri" pitchFamily="34" charset="-120"/>
              </a:rPr>
              <a:t>239 unit tests through to a live browser check</a:t>
            </a:r>
            <a:endParaRPr lang="en-US" sz="1200" dirty="0"/>
          </a:p>
        </p:txBody>
      </p:sp>
      <p:sp>
        <p:nvSpPr>
          <p:cNvPr id="28" name="Text 2"/>
          <p:cNvSpPr/>
          <p:nvPr>
            <p:ph idx="103" type="body" hasCustomPrompt="1"/>
          </p:nvPr>
        </p:nvSpPr>
        <p:spPr>
          <a:xfrm>
            <a:off x="548640" y="1188720"/>
            <a:ext cx="11064240" cy="521208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22960" y="1965960"/>
            <a:ext cx="3657600" cy="1280160"/>
          </a:xfrm>
          <a:prstGeom prst="rect">
            <a:avLst/>
          </a:prstGeom>
          <a:noFill/>
          <a:ln/>
        </p:spPr>
        <p:txBody>
          <a:bodyPr wrap="square" lIns="0" tIns="0" rIns="0" bIns="0" rtlCol="0" anchor="ctr"/>
          <a:lstStyle/>
          <a:p>
            <a:pPr indent="0" marL="0">
              <a:buNone/>
            </a:pPr>
            <a:r>
              <a:rPr lang="en-US" sz="7200" b="1" dirty="0">
                <a:solidFill>
                  <a:srgbClr val="C98A3B"/>
                </a:solidFill>
                <a:latin typeface="Cambria" pitchFamily="34" charset="0"/>
                <a:ea typeface="Cambria" pitchFamily="34" charset="-122"/>
                <a:cs typeface="Cambria" pitchFamily="34" charset="-120"/>
              </a:rPr>
              <a:t>01</a:t>
            </a:r>
            <a:endParaRPr lang="en-US" sz="7200" dirty="0"/>
          </a:p>
        </p:txBody>
      </p:sp>
      <p:sp>
        <p:nvSpPr>
          <p:cNvPr id="3" name="Text 2"/>
          <p:cNvSpPr/>
          <p:nvPr>
            <p:ph idx="102" type="title" hasCustomPrompt="1"/>
          </p:nvPr>
        </p:nvSpPr>
        <p:spPr>
          <a:xfrm>
            <a:off x="822960" y="3246120"/>
            <a:ext cx="10241280" cy="118872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System &amp; Microservices Architecture</a:t>
            </a:r>
            <a:endParaRPr lang="en-US" sz="3400" dirty="0"/>
          </a:p>
        </p:txBody>
      </p:sp>
      <p:sp>
        <p:nvSpPr>
          <p:cNvPr id="4" name="Text 2"/>
          <p:cNvSpPr/>
          <p:nvPr>
            <p:ph idx="103" type="body" hasCustomPrompt="1"/>
          </p:nvPr>
        </p:nvSpPr>
        <p:spPr>
          <a:xfrm>
            <a:off x="822960" y="4343400"/>
            <a:ext cx="9692640" cy="1005840"/>
          </a:xfrm>
          <a:prstGeom prst="rect">
            <a:avLst/>
          </a:prstGeom>
          <a:noFill/>
          <a:ln/>
        </p:spPr>
        <p:txBody>
          <a:bodyPr wrap="square" rtlCol="0" anchor="t"/>
          <a:lstStyle/>
          <a:p>
            <a:pPr algn="l" indent="0" marL="0">
              <a:buNone/>
            </a:pPr>
            <a:r>
              <a:rPr lang="en-US" sz="1600" dirty="0">
                <a:solidFill>
                  <a:srgbClr val="F6EBDD"/>
                </a:solidFill>
                <a:latin typeface="Calibri" pitchFamily="34" charset="0"/>
                <a:ea typeface="Calibri" pitchFamily="34" charset="-122"/>
                <a:cs typeface="Calibri" pitchFamily="34" charset="-120"/>
              </a:rPr>
              <a:t>Why we split UCMS into seven independent services, and why each gets its own database schema.</a:t>
            </a:r>
            <a:endParaRPr lang="en-US" sz="16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Why Microservices?</a:t>
            </a:r>
            <a:endParaRPr lang="en-US" sz="2600" dirty="0"/>
          </a:p>
        </p:txBody>
      </p:sp>
      <p:sp>
        <p:nvSpPr>
          <p:cNvPr id="3" name="Text 1"/>
          <p:cNvSpPr/>
          <p:nvPr/>
        </p:nvSpPr>
        <p:spPr>
          <a:xfrm>
            <a:off x="548640" y="1188720"/>
            <a:ext cx="11064240" cy="5212080"/>
          </a:xfrm>
          <a:prstGeom prst="rect">
            <a:avLst/>
          </a:prstGeom>
          <a:noFill/>
          <a:ln/>
        </p:spPr>
        <p:txBody>
          <a:bodyPr wrap="square" rtlCol="0" anchor="t"/>
          <a:lstStyle/>
          <a:p>
            <a:pPr marL="342900" indent="-342900">
              <a:spcAft>
                <a:spcPts val="1000"/>
              </a:spcAft>
              <a:buSzPct val="100000"/>
              <a:buChar char="●"/>
            </a:pPr>
            <a:r>
              <a:rPr lang="en-US" sz="1450" dirty="0">
                <a:solidFill>
                  <a:srgbClr val="16252A"/>
                </a:solidFill>
                <a:latin typeface="Calibri" pitchFamily="34" charset="0"/>
                <a:ea typeface="Calibri" pitchFamily="34" charset="-122"/>
                <a:cs typeface="Calibri" pitchFamily="34" charset="-120"/>
              </a:rPr>
              <a:t>Independent deployability — Enrollment, Grading, Notification and Analytics were added as four whole new services without touching Identity, Base or Academic Structure. Each is its own Maven module, its own Docker image, its own release.</a:t>
            </a:r>
            <a:endParaRPr lang="en-US" sz="1450" dirty="0"/>
          </a:p>
          <a:p>
            <a:pPr marL="342900" indent="-342900">
              <a:spcAft>
                <a:spcPts val="1000"/>
              </a:spcAft>
              <a:buSzPct val="100000"/>
              <a:buChar char="●"/>
            </a:pPr>
            <a:r>
              <a:rPr lang="en-US" sz="1450" dirty="0">
                <a:solidFill>
                  <a:srgbClr val="16252A"/>
                </a:solidFill>
                <a:latin typeface="Calibri" pitchFamily="34" charset="0"/>
                <a:ea typeface="Calibri" pitchFamily="34" charset="-122"/>
                <a:cs typeface="Calibri" pitchFamily="34" charset="-120"/>
              </a:rPr>
              <a:t>Failure isolation — if one service is down, the gateway's circuit breaker returns a clean 503 for just that feature instead of the whole app breaking. Proven in testing: we killed a service replica mid-traffic and 40 out of 40 requests still succeeded, served by the other replica.</a:t>
            </a:r>
            <a:endParaRPr lang="en-US" sz="1450" dirty="0"/>
          </a:p>
          <a:p>
            <a:pPr marL="342900" indent="-342900">
              <a:spcAft>
                <a:spcPts val="1000"/>
              </a:spcAft>
              <a:buSzPct val="100000"/>
              <a:buChar char="●"/>
            </a:pPr>
            <a:r>
              <a:rPr lang="en-US" sz="1450" dirty="0">
                <a:solidFill>
                  <a:srgbClr val="16252A"/>
                </a:solidFill>
                <a:latin typeface="Calibri" pitchFamily="34" charset="0"/>
                <a:ea typeface="Calibri" pitchFamily="34" charset="-122"/>
                <a:cs typeface="Calibri" pitchFamily="34" charset="-120"/>
              </a:rPr>
              <a:t>Independent scaling — Enrollment and Notification run 2 replicas (enrollment windows spike traffic; notifications hold long-lived live connections); Base and Analytics stay at 1 replica (low traffic). We size resources per capability, not per monolith.</a:t>
            </a:r>
            <a:endParaRPr lang="en-US" sz="1450" dirty="0"/>
          </a:p>
          <a:p>
            <a:pPr marL="342900" indent="-342900">
              <a:spcAft>
                <a:spcPts val="1000"/>
              </a:spcAft>
              <a:buSzPct val="100000"/>
              <a:buChar char="●"/>
            </a:pPr>
            <a:r>
              <a:rPr lang="en-US" sz="1450" dirty="0">
                <a:solidFill>
                  <a:srgbClr val="16252A"/>
                </a:solidFill>
                <a:latin typeface="Calibri" pitchFamily="34" charset="0"/>
                <a:ea typeface="Calibri" pitchFamily="34" charset="-122"/>
                <a:cs typeface="Calibri" pitchFamily="34" charset="-120"/>
              </a:rPr>
              <a:t>Bounded business capabilities — Identity &amp; Access, Base (faculties/departments/scales), Academic Structure (programs/courses/offerings), Enrollment, Grading, Notification, Analytics: each one maps to a real, ownable piece of the university's domain.</a:t>
            </a:r>
            <a:endParaRPr lang="en-US" sz="1450" dirty="0"/>
          </a:p>
          <a:p>
            <a:pPr marL="342900" indent="-342900">
              <a:spcAft>
                <a:spcPts val="1000"/>
              </a:spcAft>
              <a:buSzPct val="100000"/>
              <a:buChar char="●"/>
            </a:pPr>
            <a:r>
              <a:rPr lang="en-US" sz="1450" b="1" dirty="0">
                <a:solidFill>
                  <a:srgbClr val="16252A"/>
                </a:solidFill>
                <a:latin typeface="Calibri" pitchFamily="34" charset="0"/>
                <a:ea typeface="Calibri" pitchFamily="34" charset="-122"/>
                <a:cs typeface="Calibri" pitchFamily="34" charset="-120"/>
              </a:rPr>
              <a:t>This is the module structure actually in the codebase today — services/identity-access-service, services/enrollment-service, and so on — not a diagram we drew after the fact.</a:t>
            </a:r>
            <a:endParaRPr lang="en-US" sz="1450" dirty="0"/>
          </a:p>
        </p:txBody>
      </p:sp>
      <p:sp>
        <p:nvSpPr>
          <p:cNvPr id="5" name="Text 2"/>
          <p:cNvSpPr/>
          <p:nvPr>
            <p:ph idx="103" type="body" hasCustomPrompt="1"/>
          </p:nvPr>
        </p:nvSpPr>
        <p:spPr>
          <a:xfrm>
            <a:off x="548640" y="1188720"/>
            <a:ext cx="11064240" cy="521208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Microservices Architecture</a:t>
            </a:r>
            <a:endParaRPr lang="en-US" sz="2600" dirty="0"/>
          </a:p>
        </p:txBody>
      </p:sp>
      <p:pic>
        <p:nvPicPr>
          <p:cNvPr id="3" name="Image 0" descr="/Users/sachinthadilshan/Documents/Projects/ESD/University-Course-Management-System/docs/V3/diagrams/01-microservices-architecture.png">    </p:cNvPr>
          <p:cNvPicPr>
            <a:picLocks noChangeAspect="1"/>
          </p:cNvPicPr>
          <p:nvPr/>
        </p:nvPicPr>
        <p:blipFill>
          <a:blip r:embed="rId1"/>
          <a:stretch>
            <a:fillRect/>
          </a:stretch>
        </p:blipFill>
        <p:spPr>
          <a:xfrm>
            <a:off x="2021788" y="1097280"/>
            <a:ext cx="8117945" cy="5120640"/>
          </a:xfrm>
          <a:prstGeom prst="rect">
            <a:avLst/>
          </a:prstGeom>
        </p:spPr>
      </p:pic>
      <p:sp>
        <p:nvSpPr>
          <p:cNvPr id="4" name="Text 1"/>
          <p:cNvSpPr txBox="1"/>
          <p:nvPr/>
        </p:nvSpPr>
        <p:spPr>
          <a:xfrm>
            <a:off x="365760" y="6217920"/>
            <a:ext cx="10515600" cy="457200"/>
          </a:xfrm>
          <a:prstGeom prst="rect">
            <a:avLst/>
          </a:prstGeom>
          <a:noFill/>
          <a:ln/>
        </p:spPr>
        <p:txBody>
          <a:bodyPr wrap="square" lIns="0" tIns="0" rIns="0" bIns="0" rtlCol="0" anchor="t"/>
          <a:lstStyle/>
          <a:p>
            <a:pPr algn="ctr" indent="0" marL="0">
              <a:buNone/>
            </a:pPr>
            <a:r>
              <a:rPr lang="en-US" sz="1150" i="1" dirty="0">
                <a:solidFill>
                  <a:srgbClr val="3B4F56"/>
                </a:solidFill>
                <a:latin typeface="Calibri" pitchFamily="34" charset="0"/>
                <a:ea typeface="Calibri" pitchFamily="34" charset="-122"/>
                <a:cs typeface="Calibri" pitchFamily="34" charset="-120"/>
              </a:rPr>
              <a:t>7 services behind one gateway · one PostgreSQL instance, one schema per service · RabbitMQ for events · Redis for cache, limits &amp; revocation · MinIO for files</a:t>
            </a:r>
            <a:endParaRPr lang="en-US" sz="115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Why One Schema Per Service?</a:t>
            </a:r>
            <a:endParaRPr lang="en-US" sz="2600" dirty="0"/>
          </a:p>
        </p:txBody>
      </p:sp>
      <p:sp>
        <p:nvSpPr>
          <p:cNvPr id="3" name="Text 1"/>
          <p:cNvSpPr/>
          <p:nvPr/>
        </p:nvSpPr>
        <p:spPr>
          <a:xfrm>
            <a:off x="548640" y="1188720"/>
            <a:ext cx="11064240" cy="5212080"/>
          </a:xfrm>
          <a:prstGeom prst="rect">
            <a:avLst/>
          </a:prstGeom>
          <a:noFill/>
          <a:ln/>
        </p:spPr>
        <p:txBody>
          <a:bodyPr wrap="square" rtlCol="0" anchor="t"/>
          <a:lstStyle/>
          <a:p>
            <a:pPr marL="342900" indent="-342900">
              <a:spcAft>
                <a:spcPts val="1000"/>
              </a:spcAft>
              <a:buSzPct val="100000"/>
              <a:buChar char="●"/>
            </a:pPr>
            <a:r>
              <a:rPr lang="en-US" sz="1450" dirty="0">
                <a:solidFill>
                  <a:srgbClr val="16252A"/>
                </a:solidFill>
                <a:latin typeface="Calibri" pitchFamily="34" charset="0"/>
                <a:ea typeface="Calibri" pitchFamily="34" charset="-122"/>
                <a:cs typeface="Calibri" pitchFamily="34" charset="-120"/>
              </a:rPr>
              <a:t>One shared PostgreSQL instance (simple to back up, monitor and patch) + one schema per service (real business isolation) — the best of both, without running seven separate database servers.</a:t>
            </a:r>
            <a:endParaRPr lang="en-US" sz="1450" dirty="0"/>
          </a:p>
          <a:p>
            <a:pPr marL="342900" indent="-342900">
              <a:spcAft>
                <a:spcPts val="1000"/>
              </a:spcAft>
              <a:buSzPct val="100000"/>
              <a:buChar char="●"/>
            </a:pPr>
            <a:r>
              <a:rPr lang="en-US" sz="1450" dirty="0">
                <a:solidFill>
                  <a:srgbClr val="16252A"/>
                </a:solidFill>
                <a:latin typeface="Calibri" pitchFamily="34" charset="0"/>
                <a:ea typeface="Calibri" pitchFamily="34" charset="-122"/>
                <a:cs typeface="Calibri" pitchFamily="34" charset="-120"/>
              </a:rPr>
              <a:t>Enforced by database grants, not convention — each service connects with its own schema-scoped role (infra/init-schemas.sh). The enrollment service's database role literally cannot SELECT from the identity_access schema, even if the code tried to.</a:t>
            </a:r>
            <a:endParaRPr lang="en-US" sz="1450" dirty="0"/>
          </a:p>
          <a:p>
            <a:pPr marL="342900" indent="-342900">
              <a:spcAft>
                <a:spcPts val="1000"/>
              </a:spcAft>
              <a:buSzPct val="100000"/>
              <a:buChar char="●"/>
            </a:pPr>
            <a:r>
              <a:rPr lang="en-US" sz="1450" dirty="0">
                <a:solidFill>
                  <a:srgbClr val="16252A"/>
                </a:solidFill>
                <a:latin typeface="Calibri" pitchFamily="34" charset="0"/>
                <a:ea typeface="Calibri" pitchFamily="34" charset="-122"/>
                <a:cs typeface="Calibri" pitchFamily="34" charset="-120"/>
              </a:rPr>
              <a:t>No foreign keys across schemas — ever. A reference to another service's row is a plain uuid column with a comment, never a real FK. This is deliberate: a cross-schema FK would force every write to check a constraint in someone else's schema, which defeats the whole point of the boundary.</a:t>
            </a:r>
            <a:endParaRPr lang="en-US" sz="1450" dirty="0"/>
          </a:p>
          <a:p>
            <a:pPr marL="342900" indent="-342900">
              <a:spcAft>
                <a:spcPts val="1000"/>
              </a:spcAft>
              <a:buSzPct val="100000"/>
              <a:buChar char="●"/>
            </a:pPr>
            <a:r>
              <a:rPr lang="en-US" sz="1450" dirty="0">
                <a:solidFill>
                  <a:srgbClr val="16252A"/>
                </a:solidFill>
                <a:latin typeface="Calibri" pitchFamily="34" charset="0"/>
                <a:ea typeface="Calibri" pitchFamily="34" charset="-122"/>
                <a:cs typeface="Calibri" pitchFamily="34" charset="-120"/>
              </a:rPr>
              <a:t>“Who owns this data?” always has a one-line answer — if a table lives under academic.*, Academic Structure owns it, full stop.</a:t>
            </a:r>
            <a:endParaRPr lang="en-US" sz="1450" dirty="0"/>
          </a:p>
          <a:p>
            <a:pPr marL="342900" indent="-342900">
              <a:spcAft>
                <a:spcPts val="1000"/>
              </a:spcAft>
              <a:buSzPct val="100000"/>
              <a:buChar char="●"/>
            </a:pPr>
            <a:r>
              <a:rPr lang="en-US" sz="1450" b="1" dirty="0">
                <a:solidFill>
                  <a:srgbClr val="16252A"/>
                </a:solidFill>
                <a:latin typeface="Calibri" pitchFamily="34" charset="0"/>
                <a:ea typeface="Calibri" pitchFamily="34" charset="-122"/>
                <a:cs typeface="Calibri" pitchFamily="34" charset="-120"/>
              </a:rPr>
              <a:t>Every mutable table across all 7 schemas carries the same 7-column audit block: version, created_at/by, updated_at/by, deleted_at/by — one standard, enforced everywhere, not seven different conventions.</a:t>
            </a:r>
            <a:endParaRPr lang="en-US" sz="1450" dirty="0"/>
          </a:p>
        </p:txBody>
      </p:sp>
      <p:sp>
        <p:nvSpPr>
          <p:cNvPr id="5" name="Text 2"/>
          <p:cNvSpPr/>
          <p:nvPr>
            <p:ph idx="103" type="body" hasCustomPrompt="1"/>
          </p:nvPr>
        </p:nvSpPr>
        <p:spPr>
          <a:xfrm>
            <a:off x="548640" y="1188720"/>
            <a:ext cx="11064240" cy="521208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22960" y="1965960"/>
            <a:ext cx="3657600" cy="1280160"/>
          </a:xfrm>
          <a:prstGeom prst="rect">
            <a:avLst/>
          </a:prstGeom>
          <a:noFill/>
          <a:ln/>
        </p:spPr>
        <p:txBody>
          <a:bodyPr wrap="square" lIns="0" tIns="0" rIns="0" bIns="0" rtlCol="0" anchor="ctr"/>
          <a:lstStyle/>
          <a:p>
            <a:pPr indent="0" marL="0">
              <a:buNone/>
            </a:pPr>
            <a:r>
              <a:rPr lang="en-US" sz="7200" b="1" dirty="0">
                <a:solidFill>
                  <a:srgbClr val="C98A3B"/>
                </a:solidFill>
                <a:latin typeface="Cambria" pitchFamily="34" charset="0"/>
                <a:ea typeface="Cambria" pitchFamily="34" charset="-122"/>
                <a:cs typeface="Cambria" pitchFamily="34" charset="-120"/>
              </a:rPr>
              <a:t>02</a:t>
            </a:r>
            <a:endParaRPr lang="en-US" sz="7200" dirty="0"/>
          </a:p>
        </p:txBody>
      </p:sp>
      <p:sp>
        <p:nvSpPr>
          <p:cNvPr id="3" name="Text 2"/>
          <p:cNvSpPr/>
          <p:nvPr>
            <p:ph idx="102" type="title" hasCustomPrompt="1"/>
          </p:nvPr>
        </p:nvSpPr>
        <p:spPr>
          <a:xfrm>
            <a:off x="822960" y="3246120"/>
            <a:ext cx="10241280" cy="118872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DevOps &amp; CI/CD</a:t>
            </a:r>
            <a:endParaRPr lang="en-US" sz="3400" dirty="0"/>
          </a:p>
        </p:txBody>
      </p:sp>
      <p:sp>
        <p:nvSpPr>
          <p:cNvPr id="4" name="Text 2"/>
          <p:cNvSpPr/>
          <p:nvPr>
            <p:ph idx="103" type="body" hasCustomPrompt="1"/>
          </p:nvPr>
        </p:nvSpPr>
        <p:spPr>
          <a:xfrm>
            <a:off x="822960" y="4343400"/>
            <a:ext cx="9692640" cy="1005840"/>
          </a:xfrm>
          <a:prstGeom prst="rect">
            <a:avLst/>
          </a:prstGeom>
          <a:noFill/>
          <a:ln/>
        </p:spPr>
        <p:txBody>
          <a:bodyPr wrap="square" rtlCol="0" anchor="t"/>
          <a:lstStyle/>
          <a:p>
            <a:pPr algn="l" indent="0" marL="0">
              <a:buNone/>
            </a:pPr>
            <a:r>
              <a:rPr lang="en-US" sz="1600" dirty="0">
                <a:solidFill>
                  <a:srgbClr val="F6EBDD"/>
                </a:solidFill>
                <a:latin typeface="Calibri" pitchFamily="34" charset="0"/>
                <a:ea typeface="Calibri" pitchFamily="34" charset="-122"/>
                <a:cs typeface="Calibri" pitchFamily="34" charset="-120"/>
              </a:rPr>
              <a:t>How a git push turns into a running, zero-downtime deployment — and why each stage exists.</a:t>
            </a:r>
            <a:endParaRPr lang="en-US" sz="16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Why This Pipeline?</a:t>
            </a:r>
            <a:endParaRPr lang="en-US" sz="2600" dirty="0"/>
          </a:p>
        </p:txBody>
      </p:sp>
      <p:sp>
        <p:nvSpPr>
          <p:cNvPr id="3" name="Text 1"/>
          <p:cNvSpPr/>
          <p:nvPr/>
        </p:nvSpPr>
        <p:spPr>
          <a:xfrm>
            <a:off x="548640" y="1188720"/>
            <a:ext cx="11064240" cy="5212080"/>
          </a:xfrm>
          <a:prstGeom prst="rect">
            <a:avLst/>
          </a:prstGeom>
          <a:noFill/>
          <a:ln/>
        </p:spPr>
        <p:txBody>
          <a:bodyPr wrap="square" rtlCol="0" anchor="t"/>
          <a:lstStyle/>
          <a:p>
            <a:pPr marL="342900" indent="-342900">
              <a:spcAft>
                <a:spcPts val="1000"/>
              </a:spcAft>
              <a:buSzPct val="100000"/>
              <a:buChar char="●"/>
            </a:pPr>
            <a:r>
              <a:rPr lang="en-US" sz="1430" dirty="0">
                <a:solidFill>
                  <a:srgbClr val="16252A"/>
                </a:solidFill>
                <a:latin typeface="Calibri" pitchFamily="34" charset="0"/>
                <a:ea typeface="Calibri" pitchFamily="34" charset="-122"/>
                <a:cs typeface="Calibri" pitchFamily="34" charset="-120"/>
              </a:rPr>
              <a:t>One pipeline, every branch, every push — Checkout, Build &amp; Test (239 tests), Package, Frontend Build, Security Scan. A failing test or a found vulnerability turns the whole pipeline red before anything reaches a server.</a:t>
            </a:r>
            <a:endParaRPr lang="en-US" sz="1430" dirty="0"/>
          </a:p>
          <a:p>
            <a:pPr marL="342900" indent="-342900">
              <a:spcAft>
                <a:spcPts val="1000"/>
              </a:spcAft>
              <a:buSzPct val="100000"/>
              <a:buChar char="●"/>
            </a:pPr>
            <a:r>
              <a:rPr lang="en-US" sz="1430" dirty="0">
                <a:solidFill>
                  <a:srgbClr val="16252A"/>
                </a:solidFill>
                <a:latin typeface="Calibri" pitchFamily="34" charset="0"/>
                <a:ea typeface="Calibri" pitchFamily="34" charset="-122"/>
                <a:cs typeface="Calibri" pitchFamily="34" charset="-120"/>
              </a:rPr>
              <a:t>Deploy only runs on develop / release / main — a feature branch still gets the full test and security verification, with zero risk of accidentally going live.</a:t>
            </a:r>
            <a:endParaRPr lang="en-US" sz="1430" dirty="0"/>
          </a:p>
          <a:p>
            <a:pPr marL="342900" indent="-342900">
              <a:spcAft>
                <a:spcPts val="1000"/>
              </a:spcAft>
              <a:buSzPct val="100000"/>
              <a:buChar char="●"/>
            </a:pPr>
            <a:r>
              <a:rPr lang="en-US" sz="1430" dirty="0">
                <a:solidFill>
                  <a:srgbClr val="16252A"/>
                </a:solidFill>
                <a:latin typeface="Calibri" pitchFamily="34" charset="0"/>
                <a:ea typeface="Calibri" pitchFamily="34" charset="-122"/>
                <a:cs typeface="Calibri" pitchFamily="34" charset="-120"/>
              </a:rPr>
              <a:t>Jenkins runs on the same host it deploys to — no SSH hop, no separate deploy credential, removes a whole class of “the pipeline can't reach the server” failures.</a:t>
            </a:r>
            <a:endParaRPr lang="en-US" sz="1430" dirty="0"/>
          </a:p>
          <a:p>
            <a:pPr marL="342900" indent="-342900">
              <a:spcAft>
                <a:spcPts val="1000"/>
              </a:spcAft>
              <a:buSzPct val="100000"/>
              <a:buChar char="●"/>
            </a:pPr>
            <a:r>
              <a:rPr lang="en-US" sz="1430" dirty="0">
                <a:solidFill>
                  <a:srgbClr val="16252A"/>
                </a:solidFill>
                <a:latin typeface="Calibri" pitchFamily="34" charset="0"/>
                <a:ea typeface="Calibri" pitchFamily="34" charset="-122"/>
                <a:cs typeface="Calibri" pitchFamily="34" charset="-120"/>
              </a:rPr>
              <a:t>The frontend build runs inside a throwaway node:20 container, because the Jenkins host itself has no Node toolchain — the build environment is reproducible and never pollutes the host.</a:t>
            </a:r>
            <a:endParaRPr lang="en-US" sz="1430" dirty="0"/>
          </a:p>
          <a:p>
            <a:pPr marL="342900" indent="-342900">
              <a:spcAft>
                <a:spcPts val="1000"/>
              </a:spcAft>
              <a:buSzPct val="100000"/>
              <a:buChar char="●"/>
            </a:pPr>
            <a:r>
              <a:rPr lang="en-US" sz="1430" b="1" dirty="0">
                <a:solidFill>
                  <a:srgbClr val="16252A"/>
                </a:solidFill>
                <a:latin typeface="Calibri" pitchFamily="34" charset="0"/>
                <a:ea typeface="Calibri" pitchFamily="34" charset="-122"/>
                <a:cs typeface="Calibri" pitchFamily="34" charset="-120"/>
              </a:rPr>
              <a:t>Deploy changed from “docker compose up --build” (a brief outage every release) to a rolling deploy script — new replicas start and pass health checks before the old ones stop. Verified: 686 of 686 requests succeeded through a live redeploy.</a:t>
            </a:r>
            <a:endParaRPr lang="en-US" sz="1430" dirty="0"/>
          </a:p>
        </p:txBody>
      </p:sp>
      <p:sp>
        <p:nvSpPr>
          <p:cNvPr id="5" name="Text 2"/>
          <p:cNvSpPr/>
          <p:nvPr>
            <p:ph idx="103" type="body" hasCustomPrompt="1"/>
          </p:nvPr>
        </p:nvSpPr>
        <p:spPr>
          <a:xfrm>
            <a:off x="548640" y="1188720"/>
            <a:ext cx="11064240" cy="521208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Jenkins CI/CD Pipeline</a:t>
            </a:r>
            <a:endParaRPr lang="en-US" sz="2600" dirty="0"/>
          </a:p>
        </p:txBody>
      </p:sp>
      <p:pic>
        <p:nvPicPr>
          <p:cNvPr id="3" name="Image 0" descr="/Users/sachinthadilshan/Documents/Projects/ESD/University-Course-Management-System/docs/V3/diagrams/02-devops-jenkins-pipeline.png">    </p:cNvPr>
          <p:cNvPicPr>
            <a:picLocks noChangeAspect="1"/>
          </p:cNvPicPr>
          <p:nvPr/>
        </p:nvPicPr>
        <p:blipFill>
          <a:blip r:embed="rId1"/>
          <a:stretch>
            <a:fillRect/>
          </a:stretch>
        </p:blipFill>
        <p:spPr>
          <a:xfrm>
            <a:off x="1174962" y="1051560"/>
            <a:ext cx="9811596" cy="5394960"/>
          </a:xfrm>
          <a:prstGeom prst="rect">
            <a:avLst/>
          </a:prstGeom>
        </p:spPr>
      </p:pic>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22960" y="1965960"/>
            <a:ext cx="3657600" cy="1280160"/>
          </a:xfrm>
          <a:prstGeom prst="rect">
            <a:avLst/>
          </a:prstGeom>
          <a:noFill/>
          <a:ln/>
        </p:spPr>
        <p:txBody>
          <a:bodyPr wrap="square" lIns="0" tIns="0" rIns="0" bIns="0" rtlCol="0" anchor="ctr"/>
          <a:lstStyle/>
          <a:p>
            <a:pPr indent="0" marL="0">
              <a:buNone/>
            </a:pPr>
            <a:r>
              <a:rPr lang="en-US" sz="7200" b="1" dirty="0">
                <a:solidFill>
                  <a:srgbClr val="C98A3B"/>
                </a:solidFill>
                <a:latin typeface="Cambria" pitchFamily="34" charset="0"/>
                <a:ea typeface="Cambria" pitchFamily="34" charset="-122"/>
                <a:cs typeface="Cambria" pitchFamily="34" charset="-120"/>
              </a:rPr>
              <a:t>03</a:t>
            </a:r>
            <a:endParaRPr lang="en-US" sz="7200" dirty="0"/>
          </a:p>
        </p:txBody>
      </p:sp>
      <p:sp>
        <p:nvSpPr>
          <p:cNvPr id="3" name="Text 2"/>
          <p:cNvSpPr/>
          <p:nvPr>
            <p:ph idx="102" type="title" hasCustomPrompt="1"/>
          </p:nvPr>
        </p:nvSpPr>
        <p:spPr>
          <a:xfrm>
            <a:off x="822960" y="3246120"/>
            <a:ext cx="10241280" cy="118872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Service Communication</a:t>
            </a:r>
            <a:endParaRPr lang="en-US" sz="3400" dirty="0"/>
          </a:p>
        </p:txBody>
      </p:sp>
      <p:sp>
        <p:nvSpPr>
          <p:cNvPr id="4" name="Text 2"/>
          <p:cNvSpPr/>
          <p:nvPr>
            <p:ph idx="103" type="body" hasCustomPrompt="1"/>
          </p:nvPr>
        </p:nvSpPr>
        <p:spPr>
          <a:xfrm>
            <a:off x="822960" y="4343400"/>
            <a:ext cx="9692640" cy="1005840"/>
          </a:xfrm>
          <a:prstGeom prst="rect">
            <a:avLst/>
          </a:prstGeom>
          <a:noFill/>
          <a:ln/>
        </p:spPr>
        <p:txBody>
          <a:bodyPr wrap="square" rtlCol="0" anchor="t"/>
          <a:lstStyle/>
          <a:p>
            <a:pPr algn="l" indent="0" marL="0">
              <a:buNone/>
            </a:pPr>
            <a:r>
              <a:rPr lang="en-US" sz="1600" dirty="0">
                <a:solidFill>
                  <a:srgbClr val="F6EBDD"/>
                </a:solidFill>
                <a:latin typeface="Calibri" pitchFamily="34" charset="0"/>
                <a:ea typeface="Calibri" pitchFamily="34" charset="-122"/>
                <a:cs typeface="Calibri" pitchFamily="34" charset="-120"/>
              </a:rPr>
              <a:t>Two patterns, used deliberately for different jobs: synchronous REST calls, and asynchronous events.</a:t>
            </a:r>
            <a:endParaRPr lang="en-US" sz="16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Synchronous Communication — REST</a:t>
            </a:r>
            <a:endParaRPr lang="en-US" sz="2600" dirty="0"/>
          </a:p>
        </p:txBody>
      </p:sp>
      <p:pic>
        <p:nvPicPr>
          <p:cNvPr id="3" name="Image 0" descr="/Users/sachinthadilshan/Documents/Projects/ESD/University-Course-Management-System/docs/V3/diagrams/03a-communication-sync.png">    </p:cNvPr>
          <p:cNvPicPr>
            <a:picLocks noChangeAspect="1"/>
          </p:cNvPicPr>
          <p:nvPr/>
        </p:nvPicPr>
        <p:blipFill>
          <a:blip r:embed="rId1"/>
          <a:stretch>
            <a:fillRect/>
          </a:stretch>
        </p:blipFill>
        <p:spPr>
          <a:xfrm>
            <a:off x="274320" y="1269754"/>
            <a:ext cx="11612880" cy="3129772"/>
          </a:xfrm>
          <a:prstGeom prst="rect">
            <a:avLst/>
          </a:prstGeom>
        </p:spPr>
      </p:pic>
      <p:sp>
        <p:nvSpPr>
          <p:cNvPr id="4" name="Text 1"/>
          <p:cNvSpPr/>
          <p:nvPr/>
        </p:nvSpPr>
        <p:spPr>
          <a:xfrm>
            <a:off x="457200" y="4709160"/>
            <a:ext cx="10607040" cy="1463040"/>
          </a:xfrm>
          <a:prstGeom prst="rect">
            <a:avLst/>
          </a:prstGeom>
          <a:noFill/>
          <a:ln/>
        </p:spPr>
        <p:txBody>
          <a:bodyPr wrap="square" rtlCol="0" anchor="t"/>
          <a:lstStyle/>
          <a:p>
            <a:pPr marL="342900" indent="-342900">
              <a:spcAft>
                <a:spcPts val="1000"/>
              </a:spcAft>
              <a:buSzPct val="100000"/>
              <a:buChar char="●"/>
            </a:pPr>
            <a:r>
              <a:rPr lang="en-US" sz="1250" dirty="0">
                <a:solidFill>
                  <a:srgbClr val="16252A"/>
                </a:solidFill>
                <a:latin typeface="Calibri" pitchFamily="34" charset="0"/>
                <a:ea typeface="Calibri" pitchFamily="34" charset="-122"/>
                <a:cs typeface="Calibri" pitchFamily="34" charset="-120"/>
              </a:rPr>
              <a:t>Used when the caller needs the answer immediately to finish its own request — e.g. Enrollment must know if a course offering is still open before it can accept a student.</a:t>
            </a:r>
            <a:endParaRPr lang="en-US" sz="1250" dirty="0"/>
          </a:p>
          <a:p>
            <a:pPr marL="342900" indent="-342900">
              <a:spcAft>
                <a:spcPts val="1000"/>
              </a:spcAft>
              <a:buSzPct val="100000"/>
              <a:buChar char="●"/>
            </a:pPr>
            <a:r>
              <a:rPr lang="en-US" sz="1250" dirty="0">
                <a:solidFill>
                  <a:srgbClr val="16252A"/>
                </a:solidFill>
                <a:latin typeface="Calibri" pitchFamily="34" charset="0"/>
                <a:ea typeface="Calibri" pitchFamily="34" charset="-122"/>
                <a:cs typeface="Calibri" pitchFamily="34" charset="-120"/>
              </a:rPr>
              <a:t>Every service calls another using a Keycloak service token (client_credentials grant) — each service has its own client and only the minimum realm roles it needs. Least privilege, not one shared secret.</a:t>
            </a:r>
            <a:endParaRPr lang="en-US" sz="1250" dirty="0"/>
          </a:p>
          <a:p>
            <a:pPr marL="342900" indent="-342900">
              <a:spcAft>
                <a:spcPts val="1000"/>
              </a:spcAft>
              <a:buSzPct val="100000"/>
              <a:buChar char="●"/>
            </a:pPr>
            <a:r>
              <a:rPr lang="en-US" sz="1250" dirty="0">
                <a:solidFill>
                  <a:srgbClr val="16252A"/>
                </a:solidFill>
                <a:latin typeface="Calibri" pitchFamily="34" charset="0"/>
                <a:ea typeface="Calibri" pitchFamily="34" charset="-122"/>
                <a:cs typeface="Calibri" pitchFamily="34" charset="-120"/>
              </a:rPr>
              <a:t>The Gateway independently re-verifies every token at the edge as a backstop, even though each service checks again itself — defence in depth.</a:t>
            </a:r>
            <a:endParaRPr lang="en-US" sz="125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Asynchronous Communication — Events</a:t>
            </a:r>
            <a:endParaRPr lang="en-US" sz="2600" dirty="0"/>
          </a:p>
        </p:txBody>
      </p:sp>
      <p:pic>
        <p:nvPicPr>
          <p:cNvPr id="3" name="Image 0" descr="/Users/sachinthadilshan/Documents/Projects/ESD/University-Course-Management-System/docs/V3/diagrams/03b-communication-async.png">    </p:cNvPr>
          <p:cNvPicPr>
            <a:picLocks noChangeAspect="1"/>
          </p:cNvPicPr>
          <p:nvPr/>
        </p:nvPicPr>
        <p:blipFill>
          <a:blip r:embed="rId1"/>
          <a:stretch>
            <a:fillRect/>
          </a:stretch>
        </p:blipFill>
        <p:spPr>
          <a:xfrm>
            <a:off x="274320" y="1213925"/>
            <a:ext cx="11612880" cy="3515749"/>
          </a:xfrm>
          <a:prstGeom prst="rect">
            <a:avLst/>
          </a:prstGeom>
        </p:spPr>
      </p:pic>
      <p:sp>
        <p:nvSpPr>
          <p:cNvPr id="4" name="Text 1"/>
          <p:cNvSpPr/>
          <p:nvPr/>
        </p:nvSpPr>
        <p:spPr>
          <a:xfrm>
            <a:off x="457200" y="4983480"/>
            <a:ext cx="10607040" cy="1188720"/>
          </a:xfrm>
          <a:prstGeom prst="rect">
            <a:avLst/>
          </a:prstGeom>
          <a:noFill/>
          <a:ln/>
        </p:spPr>
        <p:txBody>
          <a:bodyPr wrap="square" rtlCol="0" anchor="t"/>
          <a:lstStyle/>
          <a:p>
            <a:pPr marL="342900" indent="-342900">
              <a:spcAft>
                <a:spcPts val="1000"/>
              </a:spcAft>
              <a:buSzPct val="100000"/>
              <a:buChar char="●"/>
            </a:pPr>
            <a:r>
              <a:rPr lang="en-US" sz="1250" dirty="0">
                <a:solidFill>
                  <a:srgbClr val="16252A"/>
                </a:solidFill>
                <a:latin typeface="Calibri" pitchFamily="34" charset="0"/>
                <a:ea typeface="Calibri" pitchFamily="34" charset="-122"/>
                <a:cs typeface="Calibri" pitchFamily="34" charset="-120"/>
              </a:rPr>
              <a:t>Used when the caller doesn't need to wait — e.g. Enrollment shouldn't block a student's enrollment on Notification or Analytics being available.</a:t>
            </a:r>
            <a:endParaRPr lang="en-US" sz="1250" dirty="0"/>
          </a:p>
          <a:p>
            <a:pPr marL="342900" indent="-342900">
              <a:spcAft>
                <a:spcPts val="1000"/>
              </a:spcAft>
              <a:buSzPct val="100000"/>
              <a:buChar char="●"/>
            </a:pPr>
            <a:r>
              <a:rPr lang="en-US" sz="1250" dirty="0">
                <a:solidFill>
                  <a:srgbClr val="16252A"/>
                </a:solidFill>
                <a:latin typeface="Calibri" pitchFamily="34" charset="0"/>
                <a:ea typeface="Calibri" pitchFamily="34" charset="-122"/>
                <a:cs typeface="Calibri" pitchFamily="34" charset="-120"/>
              </a:rPr>
              <a:t>RabbitMQ topic exchange (ucms.events); consumers bind their own queue with their own routing pattern — a new consumer can be added without touching the publisher.</a:t>
            </a:r>
            <a:endParaRPr lang="en-US" sz="1250" dirty="0"/>
          </a:p>
          <a:p>
            <a:pPr marL="342900" indent="-342900">
              <a:spcAft>
                <a:spcPts val="1000"/>
              </a:spcAft>
              <a:buSzPct val="100000"/>
              <a:buChar char="●"/>
            </a:pPr>
            <a:r>
              <a:rPr lang="en-US" sz="1250" dirty="0">
                <a:solidFill>
                  <a:srgbClr val="16252A"/>
                </a:solidFill>
                <a:latin typeface="Calibri" pitchFamily="34" charset="0"/>
                <a:ea typeface="Calibri" pitchFamily="34" charset="-122"/>
                <a:cs typeface="Calibri" pitchFamily="34" charset="-120"/>
              </a:rPr>
              <a:t>At-least-once delivery, made safe by idempotency (dedupe by event id) and dead-letter queues for anything that keeps failing.</a:t>
            </a:r>
            <a:endParaRPr lang="en-US" sz="125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Example — A Student Enrolls, End to End</a:t>
            </a:r>
            <a:endParaRPr lang="en-US" sz="2600" dirty="0"/>
          </a:p>
        </p:txBody>
      </p:sp>
      <p:pic>
        <p:nvPicPr>
          <p:cNvPr id="3" name="Image 0" descr="/Users/sachinthadilshan/Documents/Projects/ESD/University-Course-Management-System/docs/V3/diagrams/04-event-flow-sequence.png">    </p:cNvPr>
          <p:cNvPicPr>
            <a:picLocks noChangeAspect="1"/>
          </p:cNvPicPr>
          <p:nvPr/>
        </p:nvPicPr>
        <p:blipFill>
          <a:blip r:embed="rId1"/>
          <a:stretch>
            <a:fillRect/>
          </a:stretch>
        </p:blipFill>
        <p:spPr>
          <a:xfrm>
            <a:off x="822960" y="1747039"/>
            <a:ext cx="10515600" cy="4049722"/>
          </a:xfrm>
          <a:prstGeom prst="rect">
            <a:avLst/>
          </a:prstGeom>
        </p:spPr>
      </p:pic>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22960" y="1965960"/>
            <a:ext cx="3657600" cy="1280160"/>
          </a:xfrm>
          <a:prstGeom prst="rect">
            <a:avLst/>
          </a:prstGeom>
          <a:noFill/>
          <a:ln/>
        </p:spPr>
        <p:txBody>
          <a:bodyPr wrap="square" lIns="0" tIns="0" rIns="0" bIns="0" rtlCol="0" anchor="ctr"/>
          <a:lstStyle/>
          <a:p>
            <a:pPr indent="0" marL="0">
              <a:buNone/>
            </a:pPr>
            <a:r>
              <a:rPr lang="en-US" sz="7200" b="1" dirty="0">
                <a:solidFill>
                  <a:srgbClr val="C98A3B"/>
                </a:solidFill>
                <a:latin typeface="Cambria" pitchFamily="34" charset="0"/>
                <a:ea typeface="Cambria" pitchFamily="34" charset="-122"/>
                <a:cs typeface="Cambria" pitchFamily="34" charset="-120"/>
              </a:rPr>
              <a:t>04</a:t>
            </a:r>
            <a:endParaRPr lang="en-US" sz="7200" dirty="0"/>
          </a:p>
        </p:txBody>
      </p:sp>
      <p:sp>
        <p:nvSpPr>
          <p:cNvPr id="3" name="Text 2"/>
          <p:cNvSpPr/>
          <p:nvPr>
            <p:ph idx="102" type="title" hasCustomPrompt="1"/>
          </p:nvPr>
        </p:nvSpPr>
        <p:spPr>
          <a:xfrm>
            <a:off x="822960" y="3246120"/>
            <a:ext cx="10241280" cy="118872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Data, Transactions &amp; Schema Design</a:t>
            </a:r>
            <a:endParaRPr lang="en-US" sz="3400" dirty="0"/>
          </a:p>
        </p:txBody>
      </p:sp>
      <p:sp>
        <p:nvSpPr>
          <p:cNvPr id="4" name="Text 2"/>
          <p:cNvSpPr/>
          <p:nvPr>
            <p:ph idx="103" type="body" hasCustomPrompt="1"/>
          </p:nvPr>
        </p:nvSpPr>
        <p:spPr>
          <a:xfrm>
            <a:off x="822960" y="4343400"/>
            <a:ext cx="9692640" cy="1005840"/>
          </a:xfrm>
          <a:prstGeom prst="rect">
            <a:avLst/>
          </a:prstGeom>
          <a:noFill/>
          <a:ln/>
        </p:spPr>
        <p:txBody>
          <a:bodyPr wrap="square" rtlCol="0" anchor="t"/>
          <a:lstStyle/>
          <a:p>
            <a:pPr algn="l" indent="0" marL="0">
              <a:buNone/>
            </a:pPr>
            <a:r>
              <a:rPr lang="en-US" sz="1600" dirty="0">
                <a:solidFill>
                  <a:srgbClr val="F6EBDD"/>
                </a:solidFill>
                <a:latin typeface="Calibri" pitchFamily="34" charset="0"/>
                <a:ea typeface="Calibri" pitchFamily="34" charset="-122"/>
                <a:cs typeface="Calibri" pitchFamily="34" charset="-120"/>
              </a:rPr>
              <a:t>What actually happens inside one database transaction — and what happens when a change needs to cross a schema boundary.</a:t>
            </a:r>
            <a:endParaRPr lang="en-US" sz="16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Transaction 1 — Enrolling a Student</a:t>
            </a:r>
            <a:endParaRPr lang="en-US" sz="2600" dirty="0"/>
          </a:p>
        </p:txBody>
      </p:sp>
      <p:pic>
        <p:nvPicPr>
          <p:cNvPr id="3" name="Image 0" descr="/Users/sachinthadilshan/Documents/Projects/ESD/University-Course-Management-System/docs/V3/diagrams/11-tx-enroll.png">    </p:cNvPr>
          <p:cNvPicPr>
            <a:picLocks noChangeAspect="1"/>
          </p:cNvPicPr>
          <p:nvPr/>
        </p:nvPicPr>
        <p:blipFill>
          <a:blip r:embed="rId1"/>
          <a:stretch>
            <a:fillRect/>
          </a:stretch>
        </p:blipFill>
        <p:spPr>
          <a:xfrm>
            <a:off x="2444042" y="1005840"/>
            <a:ext cx="7273437" cy="5486400"/>
          </a:xfrm>
          <a:prstGeom prst="rect">
            <a:avLst/>
          </a:prstGeom>
        </p:spPr>
      </p:pic>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Transaction 2 — Drop &amp; Automatic Waitlist Promotion</a:t>
            </a:r>
            <a:endParaRPr lang="en-US" sz="2600" dirty="0"/>
          </a:p>
        </p:txBody>
      </p:sp>
      <p:pic>
        <p:nvPicPr>
          <p:cNvPr id="3" name="Image 0" descr="/Users/sachinthadilshan/Documents/Projects/ESD/University-Course-Management-System/docs/V3/diagrams/12-tx-drop-promote.png">    </p:cNvPr>
          <p:cNvPicPr>
            <a:picLocks noChangeAspect="1"/>
          </p:cNvPicPr>
          <p:nvPr/>
        </p:nvPicPr>
        <p:blipFill>
          <a:blip r:embed="rId1"/>
          <a:stretch>
            <a:fillRect/>
          </a:stretch>
        </p:blipFill>
        <p:spPr>
          <a:xfrm>
            <a:off x="2309794" y="1005840"/>
            <a:ext cx="7541931" cy="5486400"/>
          </a:xfrm>
          <a:prstGeom prst="rect">
            <a:avLst/>
          </a:prstGeom>
        </p:spPr>
      </p:pic>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Transaction 3 — Grading to Notification, Across Schemas</a:t>
            </a:r>
            <a:endParaRPr lang="en-US" sz="2600" dirty="0"/>
          </a:p>
        </p:txBody>
      </p:sp>
      <p:pic>
        <p:nvPicPr>
          <p:cNvPr id="3" name="Image 0" descr="/Users/sachinthadilshan/Documents/Projects/ESD/University-Course-Management-System/docs/V3/diagrams/13-tx-grading-notification.png">    </p:cNvPr>
          <p:cNvPicPr>
            <a:picLocks noChangeAspect="1"/>
          </p:cNvPicPr>
          <p:nvPr/>
        </p:nvPicPr>
        <p:blipFill>
          <a:blip r:embed="rId1"/>
          <a:stretch>
            <a:fillRect/>
          </a:stretch>
        </p:blipFill>
        <p:spPr>
          <a:xfrm>
            <a:off x="457200" y="1335460"/>
            <a:ext cx="11247120" cy="4827160"/>
          </a:xfrm>
          <a:prstGeom prst="rect">
            <a:avLst/>
          </a:prstGeom>
        </p:spPr>
      </p:pic>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22960" y="1965960"/>
            <a:ext cx="3657600" cy="1280160"/>
          </a:xfrm>
          <a:prstGeom prst="rect">
            <a:avLst/>
          </a:prstGeom>
          <a:noFill/>
          <a:ln/>
        </p:spPr>
        <p:txBody>
          <a:bodyPr wrap="square" lIns="0" tIns="0" rIns="0" bIns="0" rtlCol="0" anchor="ctr"/>
          <a:lstStyle/>
          <a:p>
            <a:pPr indent="0" marL="0">
              <a:buNone/>
            </a:pPr>
            <a:r>
              <a:rPr lang="en-US" sz="7200" b="1" dirty="0">
                <a:solidFill>
                  <a:srgbClr val="C98A3B"/>
                </a:solidFill>
                <a:latin typeface="Cambria" pitchFamily="34" charset="0"/>
                <a:ea typeface="Cambria" pitchFamily="34" charset="-122"/>
                <a:cs typeface="Cambria" pitchFamily="34" charset="-120"/>
              </a:rPr>
              <a:t>05</a:t>
            </a:r>
            <a:endParaRPr lang="en-US" sz="7200" dirty="0"/>
          </a:p>
        </p:txBody>
      </p:sp>
      <p:sp>
        <p:nvSpPr>
          <p:cNvPr id="3" name="Text 2"/>
          <p:cNvSpPr/>
          <p:nvPr>
            <p:ph idx="102" type="title" hasCustomPrompt="1"/>
          </p:nvPr>
        </p:nvSpPr>
        <p:spPr>
          <a:xfrm>
            <a:off x="822960" y="3246120"/>
            <a:ext cx="10241280" cy="118872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Entity Relationships</a:t>
            </a:r>
            <a:endParaRPr lang="en-US" sz="3400" dirty="0"/>
          </a:p>
        </p:txBody>
      </p:sp>
      <p:sp>
        <p:nvSpPr>
          <p:cNvPr id="4" name="Text 2"/>
          <p:cNvSpPr/>
          <p:nvPr>
            <p:ph idx="103" type="body" hasCustomPrompt="1"/>
          </p:nvPr>
        </p:nvSpPr>
        <p:spPr>
          <a:xfrm>
            <a:off x="822960" y="4343400"/>
            <a:ext cx="9692640" cy="1005840"/>
          </a:xfrm>
          <a:prstGeom prst="rect">
            <a:avLst/>
          </a:prstGeom>
          <a:noFill/>
          <a:ln/>
        </p:spPr>
        <p:txBody>
          <a:bodyPr wrap="square" rtlCol="0" anchor="t"/>
          <a:lstStyle/>
          <a:p>
            <a:pPr algn="l" indent="0" marL="0">
              <a:buNone/>
            </a:pPr>
            <a:r>
              <a:rPr lang="en-US" sz="1600" dirty="0">
                <a:solidFill>
                  <a:srgbClr val="F6EBDD"/>
                </a:solidFill>
                <a:latin typeface="Calibri" pitchFamily="34" charset="0"/>
                <a:ea typeface="Calibri" pitchFamily="34" charset="-122"/>
                <a:cs typeface="Calibri" pitchFamily="34" charset="-120"/>
              </a:rPr>
              <a:t>The tables in every schema, named only — and how they connect, inside and across schema boundaries.</a:t>
            </a:r>
            <a:endParaRPr lang="en-US" sz="16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How to Read These Diagrams</a:t>
            </a:r>
            <a:endParaRPr lang="en-US" sz="2600" dirty="0"/>
          </a:p>
        </p:txBody>
      </p:sp>
      <p:sp>
        <p:nvSpPr>
          <p:cNvPr id="3" name="Shape 1"/>
          <p:cNvSpPr/>
          <p:nvPr/>
        </p:nvSpPr>
        <p:spPr>
          <a:xfrm>
            <a:off x="548640" y="1371600"/>
            <a:ext cx="10881360" cy="1051560"/>
          </a:xfrm>
          <a:prstGeom prst="roundRect">
            <a:avLst>
              <a:gd name="adj" fmla="val 5217"/>
            </a:avLst>
          </a:prstGeom>
          <a:solidFill>
            <a:srgbClr val="EDF4F3"/>
          </a:solidFill>
          <a:ln/>
        </p:spPr>
      </p:sp>
      <p:sp>
        <p:nvSpPr>
          <p:cNvPr id="4" name="Text 2"/>
          <p:cNvSpPr txBox="1"/>
          <p:nvPr/>
        </p:nvSpPr>
        <p:spPr>
          <a:xfrm>
            <a:off x="777240" y="1463040"/>
            <a:ext cx="2926080" cy="868680"/>
          </a:xfrm>
          <a:prstGeom prst="rect">
            <a:avLst/>
          </a:prstGeom>
          <a:noFill/>
          <a:ln/>
        </p:spPr>
        <p:txBody>
          <a:bodyPr wrap="square" lIns="0" tIns="0" rIns="0" bIns="0" rtlCol="0" anchor="ctr"/>
          <a:lstStyle/>
          <a:p>
            <a:pPr indent="0" marL="0">
              <a:buNone/>
            </a:pPr>
            <a:r>
              <a:rPr lang="en-US" sz="1400" b="1" dirty="0">
                <a:solidFill>
                  <a:srgbClr val="1F5F5B"/>
                </a:solidFill>
                <a:latin typeface="Calibri" pitchFamily="34" charset="0"/>
                <a:ea typeface="Calibri" pitchFamily="34" charset="-122"/>
                <a:cs typeface="Calibri" pitchFamily="34" charset="-120"/>
              </a:rPr>
              <a:t>Box</a:t>
            </a:r>
            <a:endParaRPr lang="en-US" sz="1400" dirty="0"/>
          </a:p>
        </p:txBody>
      </p:sp>
      <p:sp>
        <p:nvSpPr>
          <p:cNvPr id="5" name="Text 3"/>
          <p:cNvSpPr txBox="1"/>
          <p:nvPr/>
        </p:nvSpPr>
        <p:spPr>
          <a:xfrm>
            <a:off x="3931920" y="1463040"/>
            <a:ext cx="7223760" cy="868680"/>
          </a:xfrm>
          <a:prstGeom prst="rect">
            <a:avLst/>
          </a:prstGeom>
          <a:noFill/>
          <a:ln/>
        </p:spPr>
        <p:txBody>
          <a:bodyPr wrap="square" lIns="0" tIns="0" rIns="0" bIns="0" rtlCol="0" anchor="ctr"/>
          <a:lstStyle/>
          <a:p>
            <a:pPr indent="0" marL="0">
              <a:buNone/>
            </a:pPr>
            <a:r>
              <a:rPr lang="en-US" sz="1250" dirty="0">
                <a:solidFill>
                  <a:srgbClr val="16252A"/>
                </a:solidFill>
                <a:latin typeface="Calibri" pitchFamily="34" charset="0"/>
                <a:ea typeface="Calibri" pitchFamily="34" charset="-122"/>
                <a:cs typeface="Calibri" pitchFamily="34" charset="-120"/>
              </a:rPr>
              <a:t>A table, named only — no columns shown, by design. Column-level detail lives in the migration scripts.</a:t>
            </a:r>
            <a:endParaRPr lang="en-US" sz="1250" dirty="0"/>
          </a:p>
        </p:txBody>
      </p:sp>
      <p:sp>
        <p:nvSpPr>
          <p:cNvPr id="6" name="Shape 4"/>
          <p:cNvSpPr/>
          <p:nvPr/>
        </p:nvSpPr>
        <p:spPr>
          <a:xfrm>
            <a:off x="548640" y="2560320"/>
            <a:ext cx="10881360" cy="1051560"/>
          </a:xfrm>
          <a:prstGeom prst="roundRect">
            <a:avLst>
              <a:gd name="adj" fmla="val 5217"/>
            </a:avLst>
          </a:prstGeom>
          <a:solidFill>
            <a:srgbClr val="EDF4F3"/>
          </a:solidFill>
          <a:ln/>
        </p:spPr>
      </p:sp>
      <p:sp>
        <p:nvSpPr>
          <p:cNvPr id="7" name="Text 5"/>
          <p:cNvSpPr txBox="1"/>
          <p:nvPr/>
        </p:nvSpPr>
        <p:spPr>
          <a:xfrm>
            <a:off x="777240" y="2651760"/>
            <a:ext cx="2926080" cy="868680"/>
          </a:xfrm>
          <a:prstGeom prst="rect">
            <a:avLst/>
          </a:prstGeom>
          <a:noFill/>
          <a:ln/>
        </p:spPr>
        <p:txBody>
          <a:bodyPr wrap="square" lIns="0" tIns="0" rIns="0" bIns="0" rtlCol="0" anchor="ctr"/>
          <a:lstStyle/>
          <a:p>
            <a:pPr indent="0" marL="0">
              <a:buNone/>
            </a:pPr>
            <a:r>
              <a:rPr lang="en-US" sz="1400" b="1" dirty="0">
                <a:solidFill>
                  <a:srgbClr val="1F5F5B"/>
                </a:solidFill>
                <a:latin typeface="Calibri" pitchFamily="34" charset="0"/>
                <a:ea typeface="Calibri" pitchFamily="34" charset="-122"/>
                <a:cs typeface="Calibri" pitchFamily="34" charset="-120"/>
              </a:rPr>
              <a:t>Solid line + crow's foot</a:t>
            </a:r>
            <a:endParaRPr lang="en-US" sz="1400" dirty="0"/>
          </a:p>
        </p:txBody>
      </p:sp>
      <p:sp>
        <p:nvSpPr>
          <p:cNvPr id="8" name="Text 6"/>
          <p:cNvSpPr txBox="1"/>
          <p:nvPr/>
        </p:nvSpPr>
        <p:spPr>
          <a:xfrm>
            <a:off x="3931920" y="2651760"/>
            <a:ext cx="7223760" cy="868680"/>
          </a:xfrm>
          <a:prstGeom prst="rect">
            <a:avLst/>
          </a:prstGeom>
          <a:noFill/>
          <a:ln/>
        </p:spPr>
        <p:txBody>
          <a:bodyPr wrap="square" lIns="0" tIns="0" rIns="0" bIns="0" rtlCol="0" anchor="ctr"/>
          <a:lstStyle/>
          <a:p>
            <a:pPr indent="0" marL="0">
              <a:buNone/>
            </a:pPr>
            <a:r>
              <a:rPr lang="en-US" sz="1250" dirty="0">
                <a:solidFill>
                  <a:srgbClr val="16252A"/>
                </a:solidFill>
                <a:latin typeface="Calibri" pitchFamily="34" charset="0"/>
                <a:ea typeface="Calibri" pitchFamily="34" charset="-122"/>
                <a:cs typeface="Calibri" pitchFamily="34" charset="-120"/>
              </a:rPr>
              <a:t>A real foreign key, inside the same schema — enforced by the database itself.</a:t>
            </a:r>
            <a:endParaRPr lang="en-US" sz="1250" dirty="0"/>
          </a:p>
        </p:txBody>
      </p:sp>
      <p:sp>
        <p:nvSpPr>
          <p:cNvPr id="9" name="Shape 7"/>
          <p:cNvSpPr/>
          <p:nvPr/>
        </p:nvSpPr>
        <p:spPr>
          <a:xfrm>
            <a:off x="548640" y="3749040"/>
            <a:ext cx="10881360" cy="1051560"/>
          </a:xfrm>
          <a:prstGeom prst="roundRect">
            <a:avLst>
              <a:gd name="adj" fmla="val 5217"/>
            </a:avLst>
          </a:prstGeom>
          <a:solidFill>
            <a:srgbClr val="EDF4F3"/>
          </a:solidFill>
          <a:ln/>
        </p:spPr>
      </p:sp>
      <p:sp>
        <p:nvSpPr>
          <p:cNvPr id="10" name="Text 8"/>
          <p:cNvSpPr txBox="1"/>
          <p:nvPr/>
        </p:nvSpPr>
        <p:spPr>
          <a:xfrm>
            <a:off x="777240" y="3840480"/>
            <a:ext cx="2926080" cy="868680"/>
          </a:xfrm>
          <a:prstGeom prst="rect">
            <a:avLst/>
          </a:prstGeom>
          <a:noFill/>
          <a:ln/>
        </p:spPr>
        <p:txBody>
          <a:bodyPr wrap="square" lIns="0" tIns="0" rIns="0" bIns="0" rtlCol="0" anchor="ctr"/>
          <a:lstStyle/>
          <a:p>
            <a:pPr indent="0" marL="0">
              <a:buNone/>
            </a:pPr>
            <a:r>
              <a:rPr lang="en-US" sz="1400" b="1" dirty="0">
                <a:solidFill>
                  <a:srgbClr val="1F5F5B"/>
                </a:solidFill>
                <a:latin typeface="Calibri" pitchFamily="34" charset="0"/>
                <a:ea typeface="Calibri" pitchFamily="34" charset="-122"/>
                <a:cs typeface="Calibri" pitchFamily="34" charset="-120"/>
              </a:rPr>
              <a:t>Dashed line, labelled</a:t>
            </a:r>
            <a:endParaRPr lang="en-US" sz="1400" dirty="0"/>
          </a:p>
        </p:txBody>
      </p:sp>
      <p:sp>
        <p:nvSpPr>
          <p:cNvPr id="11" name="Text 9"/>
          <p:cNvSpPr txBox="1"/>
          <p:nvPr/>
        </p:nvSpPr>
        <p:spPr>
          <a:xfrm>
            <a:off x="3931920" y="3840480"/>
            <a:ext cx="7223760" cy="868680"/>
          </a:xfrm>
          <a:prstGeom prst="rect">
            <a:avLst/>
          </a:prstGeom>
          <a:noFill/>
          <a:ln/>
        </p:spPr>
        <p:txBody>
          <a:bodyPr wrap="square" lIns="0" tIns="0" rIns="0" bIns="0" rtlCol="0" anchor="ctr"/>
          <a:lstStyle/>
          <a:p>
            <a:pPr indent="0" marL="0">
              <a:buNone/>
            </a:pPr>
            <a:r>
              <a:rPr lang="en-US" sz="1250" dirty="0">
                <a:solidFill>
                  <a:srgbClr val="16252A"/>
                </a:solidFill>
                <a:latin typeface="Calibri" pitchFamily="34" charset="0"/>
                <a:ea typeface="Calibri" pitchFamily="34" charset="-122"/>
                <a:cs typeface="Calibri" pitchFamily="34" charset="-120"/>
              </a:rPr>
              <a:t>A cross-schema reference — a plain id column (e.g. lecturer_id, student_id), never a real foreign key, per the “no cross-schema FK” rule.</a:t>
            </a:r>
            <a:endParaRPr lang="en-US" sz="1250" dirty="0"/>
          </a:p>
        </p:txBody>
      </p:sp>
      <p:sp>
        <p:nvSpPr>
          <p:cNvPr id="12" name="Shape 10"/>
          <p:cNvSpPr/>
          <p:nvPr/>
        </p:nvSpPr>
        <p:spPr>
          <a:xfrm>
            <a:off x="548640" y="4937760"/>
            <a:ext cx="10881360" cy="1051560"/>
          </a:xfrm>
          <a:prstGeom prst="roundRect">
            <a:avLst>
              <a:gd name="adj" fmla="val 5217"/>
            </a:avLst>
          </a:prstGeom>
          <a:solidFill>
            <a:srgbClr val="EDF4F3"/>
          </a:solidFill>
          <a:ln/>
        </p:spPr>
      </p:sp>
      <p:sp>
        <p:nvSpPr>
          <p:cNvPr id="13" name="Text 11"/>
          <p:cNvSpPr txBox="1"/>
          <p:nvPr/>
        </p:nvSpPr>
        <p:spPr>
          <a:xfrm>
            <a:off x="777240" y="5029200"/>
            <a:ext cx="2926080" cy="868680"/>
          </a:xfrm>
          <a:prstGeom prst="rect">
            <a:avLst/>
          </a:prstGeom>
          <a:noFill/>
          <a:ln/>
        </p:spPr>
        <p:txBody>
          <a:bodyPr wrap="square" lIns="0" tIns="0" rIns="0" bIns="0" rtlCol="0" anchor="ctr"/>
          <a:lstStyle/>
          <a:p>
            <a:pPr indent="0" marL="0">
              <a:buNone/>
            </a:pPr>
            <a:r>
              <a:rPr lang="en-US" sz="1400" b="1" dirty="0">
                <a:solidFill>
                  <a:srgbClr val="1F5F5B"/>
                </a:solidFill>
                <a:latin typeface="Calibri" pitchFamily="34" charset="0"/>
                <a:ea typeface="Calibri" pitchFamily="34" charset="-122"/>
                <a:cs typeface="Calibri" pitchFamily="34" charset="-120"/>
              </a:rPr>
              <a:t>Grouped box</a:t>
            </a:r>
            <a:endParaRPr lang="en-US" sz="1400" dirty="0"/>
          </a:p>
        </p:txBody>
      </p:sp>
      <p:sp>
        <p:nvSpPr>
          <p:cNvPr id="14" name="Text 12"/>
          <p:cNvSpPr txBox="1"/>
          <p:nvPr/>
        </p:nvSpPr>
        <p:spPr>
          <a:xfrm>
            <a:off x="3931920" y="5029200"/>
            <a:ext cx="7223760" cy="868680"/>
          </a:xfrm>
          <a:prstGeom prst="rect">
            <a:avLst/>
          </a:prstGeom>
          <a:noFill/>
          <a:ln/>
        </p:spPr>
        <p:txBody>
          <a:bodyPr wrap="square" lIns="0" tIns="0" rIns="0" bIns="0" rtlCol="0" anchor="ctr"/>
          <a:lstStyle/>
          <a:p>
            <a:pPr indent="0" marL="0">
              <a:buNone/>
            </a:pPr>
            <a:r>
              <a:rPr lang="en-US" sz="1250" dirty="0">
                <a:solidFill>
                  <a:srgbClr val="16252A"/>
                </a:solidFill>
                <a:latin typeface="Calibri" pitchFamily="34" charset="0"/>
                <a:ea typeface="Calibri" pitchFamily="34" charset="-122"/>
                <a:cs typeface="Calibri" pitchFamily="34" charset="-120"/>
              </a:rPr>
              <a:t>One service's schema boundary — every table inside it is owned by that one service.</a:t>
            </a:r>
            <a:endParaRPr lang="en-US" sz="1250" dirty="0"/>
          </a:p>
        </p:txBody>
      </p:sp>
      <p:sp>
        <p:nvSpPr>
          <p:cNvPr id="16" name="Text 2"/>
          <p:cNvSpPr/>
          <p:nvPr>
            <p:ph idx="103" type="body" hasCustomPrompt="1"/>
          </p:nvPr>
        </p:nvSpPr>
        <p:spPr>
          <a:xfrm>
            <a:off x="548640" y="1188720"/>
            <a:ext cx="11064240" cy="521208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identity_access — Who You Are, What You May Do</a:t>
            </a:r>
            <a:endParaRPr lang="en-US" sz="2600" dirty="0"/>
          </a:p>
        </p:txBody>
      </p:sp>
      <p:pic>
        <p:nvPicPr>
          <p:cNvPr id="3" name="Image 0" descr="/Users/sachinthadilshan/Documents/Projects/ESD/University-Course-Management-System/docs/V3/diagrams/05-er-identity-access.png">    </p:cNvPr>
          <p:cNvPicPr>
            <a:picLocks noChangeAspect="1"/>
          </p:cNvPicPr>
          <p:nvPr/>
        </p:nvPicPr>
        <p:blipFill>
          <a:blip r:embed="rId1"/>
          <a:stretch>
            <a:fillRect/>
          </a:stretch>
        </p:blipFill>
        <p:spPr>
          <a:xfrm>
            <a:off x="2377440" y="1223742"/>
            <a:ext cx="7406640" cy="5004875"/>
          </a:xfrm>
          <a:prstGeom prst="rect">
            <a:avLst/>
          </a:prstGeom>
        </p:spPr>
      </p:pic>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academic — Programs, Courses &amp; Yearly Offerings</a:t>
            </a:r>
            <a:endParaRPr lang="en-US" sz="2600" dirty="0"/>
          </a:p>
        </p:txBody>
      </p:sp>
      <p:pic>
        <p:nvPicPr>
          <p:cNvPr id="3" name="Image 0" descr="/Users/sachinthadilshan/Documents/Projects/ESD/University-Course-Management-System/docs/V3/diagrams/07-er-academic.png">    </p:cNvPr>
          <p:cNvPicPr>
            <a:picLocks noChangeAspect="1"/>
          </p:cNvPicPr>
          <p:nvPr/>
        </p:nvPicPr>
        <p:blipFill>
          <a:blip r:embed="rId1"/>
          <a:stretch>
            <a:fillRect/>
          </a:stretch>
        </p:blipFill>
        <p:spPr>
          <a:xfrm>
            <a:off x="548640" y="1221345"/>
            <a:ext cx="11064240" cy="5009669"/>
          </a:xfrm>
          <a:prstGeom prst="rect">
            <a:avLst/>
          </a:prstGeom>
        </p:spPr>
      </p:pic>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base &amp; enrollment schemas</a:t>
            </a:r>
            <a:endParaRPr lang="en-US" sz="2600" dirty="0"/>
          </a:p>
        </p:txBody>
      </p:sp>
      <p:pic>
        <p:nvPicPr>
          <p:cNvPr id="3" name="Image 0" descr="/Users/sachinthadilshan/Documents/Projects/ESD/University-Course-Management-System/docs/V3/diagrams/06-er-base.png">    </p:cNvPr>
          <p:cNvPicPr>
            <a:picLocks noChangeAspect="1"/>
          </p:cNvPicPr>
          <p:nvPr/>
        </p:nvPicPr>
        <p:blipFill>
          <a:blip r:embed="rId1"/>
          <a:stretch>
            <a:fillRect/>
          </a:stretch>
        </p:blipFill>
        <p:spPr>
          <a:xfrm>
            <a:off x="457200" y="1359592"/>
            <a:ext cx="5394960" cy="2492896"/>
          </a:xfrm>
          <a:prstGeom prst="rect">
            <a:avLst/>
          </a:prstGeom>
        </p:spPr>
      </p:pic>
      <p:pic>
        <p:nvPicPr>
          <p:cNvPr id="4" name="Image 1" descr="/Users/sachinthadilshan/Documents/Projects/ESD/University-Course-Management-System/docs/V3/diagrams/08-er-enrollment.png">    </p:cNvPr>
          <p:cNvPicPr>
            <a:picLocks noChangeAspect="1"/>
          </p:cNvPicPr>
          <p:nvPr/>
        </p:nvPicPr>
        <p:blipFill>
          <a:blip r:embed="rId2"/>
          <a:stretch>
            <a:fillRect/>
          </a:stretch>
        </p:blipFill>
        <p:spPr>
          <a:xfrm>
            <a:off x="6930462" y="1280160"/>
            <a:ext cx="4152756" cy="2651760"/>
          </a:xfrm>
          <a:prstGeom prst="rect">
            <a:avLst/>
          </a:prstGeom>
        </p:spPr>
      </p:pic>
      <p:sp>
        <p:nvSpPr>
          <p:cNvPr id="5" name="Text 1"/>
          <p:cNvSpPr txBox="1"/>
          <p:nvPr/>
        </p:nvSpPr>
        <p:spPr>
          <a:xfrm>
            <a:off x="457200" y="4023360"/>
            <a:ext cx="5394960" cy="502920"/>
          </a:xfrm>
          <a:prstGeom prst="rect">
            <a:avLst/>
          </a:prstGeom>
          <a:noFill/>
          <a:ln/>
        </p:spPr>
        <p:txBody>
          <a:bodyPr wrap="square" lIns="0" tIns="0" rIns="0" bIns="0" rtlCol="0" anchor="t"/>
          <a:lstStyle/>
          <a:p>
            <a:pPr indent="0" marL="0">
              <a:buNone/>
            </a:pPr>
            <a:r>
              <a:rPr lang="en-US" sz="1150" b="1" dirty="0">
                <a:solidFill>
                  <a:srgbClr val="1F5F5B"/>
                </a:solidFill>
                <a:latin typeface="Calibri" pitchFamily="34" charset="0"/>
                <a:ea typeface="Calibri" pitchFamily="34" charset="-122"/>
                <a:cs typeface="Calibri" pitchFamily="34" charset="-120"/>
              </a:rPr>
              <a:t>base — faculties, departments, grading_scales, course_categories</a:t>
            </a:r>
            <a:endParaRPr lang="en-US" sz="1150" dirty="0"/>
          </a:p>
        </p:txBody>
      </p:sp>
      <p:sp>
        <p:nvSpPr>
          <p:cNvPr id="6" name="Text 2"/>
          <p:cNvSpPr txBox="1"/>
          <p:nvPr/>
        </p:nvSpPr>
        <p:spPr>
          <a:xfrm>
            <a:off x="457200" y="4572000"/>
            <a:ext cx="5394960" cy="914400"/>
          </a:xfrm>
          <a:prstGeom prst="rect">
            <a:avLst/>
          </a:prstGeom>
          <a:noFill/>
          <a:ln/>
        </p:spPr>
        <p:txBody>
          <a:bodyPr wrap="square" lIns="0" tIns="0" rIns="0" bIns="0" rtlCol="0" anchor="t"/>
          <a:lstStyle/>
          <a:p>
            <a:pPr indent="0" marL="0">
              <a:buNone/>
            </a:pPr>
            <a:r>
              <a:rPr lang="en-US" sz="1100" dirty="0">
                <a:solidFill>
                  <a:srgbClr val="3B4F56"/>
                </a:solidFill>
                <a:latin typeface="Calibri" pitchFamily="34" charset="0"/>
                <a:ea typeface="Calibri" pitchFamily="34" charset="-122"/>
                <a:cs typeface="Calibri" pitchFamily="34" charset="-120"/>
              </a:rPr>
              <a:t>A faculty contains many departments. Grading scales and course categories are shared reference lists other schemas point to by id.</a:t>
            </a:r>
            <a:endParaRPr lang="en-US" sz="1100" dirty="0"/>
          </a:p>
        </p:txBody>
      </p:sp>
      <p:sp>
        <p:nvSpPr>
          <p:cNvPr id="7" name="Text 3"/>
          <p:cNvSpPr txBox="1"/>
          <p:nvPr/>
        </p:nvSpPr>
        <p:spPr>
          <a:xfrm>
            <a:off x="6309360" y="4023360"/>
            <a:ext cx="5394960" cy="502920"/>
          </a:xfrm>
          <a:prstGeom prst="rect">
            <a:avLst/>
          </a:prstGeom>
          <a:noFill/>
          <a:ln/>
        </p:spPr>
        <p:txBody>
          <a:bodyPr wrap="square" lIns="0" tIns="0" rIns="0" bIns="0" rtlCol="0" anchor="t"/>
          <a:lstStyle/>
          <a:p>
            <a:pPr indent="0" marL="0">
              <a:buNone/>
            </a:pPr>
            <a:r>
              <a:rPr lang="en-US" sz="1150" b="1" dirty="0">
                <a:solidFill>
                  <a:srgbClr val="1F5F5B"/>
                </a:solidFill>
                <a:latin typeface="Calibri" pitchFamily="34" charset="0"/>
                <a:ea typeface="Calibri" pitchFamily="34" charset="-122"/>
                <a:cs typeface="Calibri" pitchFamily="34" charset="-120"/>
              </a:rPr>
              <a:t>enrollment — student_program_enrollments, course_enrollments, registration_log</a:t>
            </a:r>
            <a:endParaRPr lang="en-US" sz="1150" dirty="0"/>
          </a:p>
        </p:txBody>
      </p:sp>
      <p:sp>
        <p:nvSpPr>
          <p:cNvPr id="8" name="Text 4"/>
          <p:cNvSpPr txBox="1"/>
          <p:nvPr/>
        </p:nvSpPr>
        <p:spPr>
          <a:xfrm>
            <a:off x="6309360" y="4572000"/>
            <a:ext cx="5394960" cy="914400"/>
          </a:xfrm>
          <a:prstGeom prst="rect">
            <a:avLst/>
          </a:prstGeom>
          <a:noFill/>
          <a:ln/>
        </p:spPr>
        <p:txBody>
          <a:bodyPr wrap="square" lIns="0" tIns="0" rIns="0" bIns="0" rtlCol="0" anchor="t"/>
          <a:lstStyle/>
          <a:p>
            <a:pPr indent="0" marL="0">
              <a:buNone/>
            </a:pPr>
            <a:r>
              <a:rPr lang="en-US" sz="1100" dirty="0">
                <a:solidFill>
                  <a:srgbClr val="3B4F56"/>
                </a:solidFill>
                <a:latin typeface="Calibri" pitchFamily="34" charset="0"/>
                <a:ea typeface="Calibri" pitchFamily="34" charset="-122"/>
                <a:cs typeface="Calibri" pitchFamily="34" charset="-120"/>
              </a:rPr>
              <a:t>Every program or course registration action (enroll, waitlist, drop, promote) is appended to one shared audit trail.</a:t>
            </a:r>
            <a:endParaRPr lang="en-US" sz="1100" dirty="0"/>
          </a:p>
        </p:txBody>
      </p:sp>
      <p:sp>
        <p:nvSpPr>
          <p:cNvPr id="10" name="Text 2"/>
          <p:cNvSpPr/>
          <p:nvPr>
            <p:ph idx="103" type="body" hasCustomPrompt="1"/>
          </p:nvPr>
        </p:nvSpPr>
        <p:spPr>
          <a:xfrm>
            <a:off x="548640" y="1188720"/>
            <a:ext cx="11064240" cy="521208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assignment_grading, notification &amp; analytics</a:t>
            </a:r>
            <a:endParaRPr lang="en-US" sz="2600" dirty="0"/>
          </a:p>
        </p:txBody>
      </p:sp>
      <p:pic>
        <p:nvPicPr>
          <p:cNvPr id="3" name="Image 0" descr="/Users/sachinthadilshan/Documents/Projects/ESD/University-Course-Management-System/docs/V3/diagrams/09-er-grading-notification-analytics.png">    </p:cNvPr>
          <p:cNvPicPr>
            <a:picLocks noChangeAspect="1"/>
          </p:cNvPicPr>
          <p:nvPr/>
        </p:nvPicPr>
        <p:blipFill>
          <a:blip r:embed="rId1"/>
          <a:stretch>
            <a:fillRect/>
          </a:stretch>
        </p:blipFill>
        <p:spPr>
          <a:xfrm>
            <a:off x="690851" y="1051560"/>
            <a:ext cx="10779817" cy="5394960"/>
          </a:xfrm>
          <a:prstGeom prst="rect">
            <a:avLst/>
          </a:prstGeom>
        </p:spPr>
      </p:pic>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The Full Picture — Cross-Schema Relationships</a:t>
            </a:r>
            <a:endParaRPr lang="en-US" sz="2600" dirty="0"/>
          </a:p>
        </p:txBody>
      </p:sp>
      <p:pic>
        <p:nvPicPr>
          <p:cNvPr id="3" name="Image 0" descr="/Users/sachinthadilshan/Documents/Projects/ESD/University-Course-Management-System/docs/V3/diagrams/10-er-cross-schema.png">    </p:cNvPr>
          <p:cNvPicPr>
            <a:picLocks noChangeAspect="1"/>
          </p:cNvPicPr>
          <p:nvPr/>
        </p:nvPicPr>
        <p:blipFill>
          <a:blip r:embed="rId1"/>
          <a:stretch>
            <a:fillRect/>
          </a:stretch>
        </p:blipFill>
        <p:spPr>
          <a:xfrm>
            <a:off x="1904095" y="1005840"/>
            <a:ext cx="8353331" cy="5486400"/>
          </a:xfrm>
          <a:prstGeom prst="rect">
            <a:avLst/>
          </a:prstGeom>
        </p:spPr>
      </p:pic>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822960" y="1965960"/>
            <a:ext cx="3657600" cy="1280160"/>
          </a:xfrm>
          <a:prstGeom prst="rect">
            <a:avLst/>
          </a:prstGeom>
          <a:noFill/>
          <a:ln/>
        </p:spPr>
        <p:txBody>
          <a:bodyPr wrap="square" lIns="0" tIns="0" rIns="0" bIns="0" rtlCol="0" anchor="ctr"/>
          <a:lstStyle/>
          <a:p>
            <a:pPr indent="0" marL="0">
              <a:buNone/>
            </a:pPr>
            <a:r>
              <a:rPr lang="en-US" sz="7200" b="1" dirty="0">
                <a:solidFill>
                  <a:srgbClr val="C98A3B"/>
                </a:solidFill>
                <a:latin typeface="Cambria" pitchFamily="34" charset="0"/>
                <a:ea typeface="Cambria" pitchFamily="34" charset="-122"/>
                <a:cs typeface="Cambria" pitchFamily="34" charset="-120"/>
              </a:rPr>
              <a:t>06</a:t>
            </a:r>
            <a:endParaRPr lang="en-US" sz="7200" dirty="0"/>
          </a:p>
        </p:txBody>
      </p:sp>
      <p:sp>
        <p:nvSpPr>
          <p:cNvPr id="3" name="Text 2"/>
          <p:cNvSpPr/>
          <p:nvPr>
            <p:ph idx="102" type="title" hasCustomPrompt="1"/>
          </p:nvPr>
        </p:nvSpPr>
        <p:spPr>
          <a:xfrm>
            <a:off x="822960" y="3246120"/>
            <a:ext cx="10241280" cy="118872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Deployment, Scaling &amp; Reliability</a:t>
            </a:r>
            <a:endParaRPr lang="en-US" sz="3400" dirty="0"/>
          </a:p>
        </p:txBody>
      </p:sp>
      <p:sp>
        <p:nvSpPr>
          <p:cNvPr id="4" name="Text 2"/>
          <p:cNvSpPr/>
          <p:nvPr>
            <p:ph idx="103" type="body" hasCustomPrompt="1"/>
          </p:nvPr>
        </p:nvSpPr>
        <p:spPr>
          <a:xfrm>
            <a:off x="822960" y="4343400"/>
            <a:ext cx="9692640" cy="1005840"/>
          </a:xfrm>
          <a:prstGeom prst="rect">
            <a:avLst/>
          </a:prstGeom>
          <a:noFill/>
          <a:ln/>
        </p:spPr>
        <p:txBody>
          <a:bodyPr wrap="square" rtlCol="0" anchor="t"/>
          <a:lstStyle/>
          <a:p>
            <a:pPr algn="l" indent="0" marL="0">
              <a:buNone/>
            </a:pPr>
            <a:r>
              <a:rPr lang="en-US" sz="1600" dirty="0">
                <a:solidFill>
                  <a:srgbClr val="F6EBDD"/>
                </a:solidFill>
                <a:latin typeface="Calibri" pitchFamily="34" charset="0"/>
                <a:ea typeface="Calibri" pitchFamily="34" charset="-122"/>
                <a:cs typeface="Calibri" pitchFamily="34" charset="-120"/>
              </a:rPr>
              <a:t>Containers, networks, load balancing, and deploys that don't drop a single request.</a:t>
            </a:r>
            <a:endParaRPr lang="en-US" sz="16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Deployment Architecture</a:t>
            </a:r>
            <a:endParaRPr lang="en-US" sz="2600" dirty="0"/>
          </a:p>
        </p:txBody>
      </p:sp>
      <p:pic>
        <p:nvPicPr>
          <p:cNvPr id="3" name="Image 0" descr="/Users/sachinthadilshan/Documents/Projects/ESD/University-Course-Management-System/docs/V3/diagrams/14-deployment-architecture.png">    </p:cNvPr>
          <p:cNvPicPr>
            <a:picLocks noChangeAspect="1"/>
          </p:cNvPicPr>
          <p:nvPr/>
        </p:nvPicPr>
        <p:blipFill>
          <a:blip r:embed="rId1"/>
          <a:stretch>
            <a:fillRect/>
          </a:stretch>
        </p:blipFill>
        <p:spPr>
          <a:xfrm>
            <a:off x="274320" y="1666170"/>
            <a:ext cx="11612880" cy="2794139"/>
          </a:xfrm>
          <a:prstGeom prst="rect">
            <a:avLst/>
          </a:prstGeom>
        </p:spPr>
      </p:pic>
      <p:sp>
        <p:nvSpPr>
          <p:cNvPr id="4" name="Text 1"/>
          <p:cNvSpPr/>
          <p:nvPr/>
        </p:nvSpPr>
        <p:spPr>
          <a:xfrm>
            <a:off x="457200" y="5212080"/>
            <a:ext cx="11247120" cy="1188720"/>
          </a:xfrm>
          <a:prstGeom prst="rect">
            <a:avLst/>
          </a:prstGeom>
          <a:noFill/>
          <a:ln/>
        </p:spPr>
        <p:txBody>
          <a:bodyPr wrap="square" rtlCol="0" anchor="t"/>
          <a:lstStyle/>
          <a:p>
            <a:pPr marL="342900" indent="-342900">
              <a:spcAft>
                <a:spcPts val="1000"/>
              </a:spcAft>
              <a:buSzPct val="100000"/>
              <a:buChar char="●"/>
            </a:pPr>
            <a:r>
              <a:rPr lang="en-US" sz="1200" dirty="0">
                <a:solidFill>
                  <a:srgbClr val="16252A"/>
                </a:solidFill>
                <a:latin typeface="Calibri" pitchFamily="34" charset="0"/>
                <a:ea typeface="Calibri" pitchFamily="34" charset="-122"/>
                <a:cs typeface="Calibri" pitchFamily="34" charset="-120"/>
              </a:rPr>
              <a:t>One Docker host, three isolated networks: ucms_edge (internet-facing), ucms_app (application), ucms_data (databases) — the public-facing web container has no route at all to the database.</a:t>
            </a:r>
            <a:endParaRPr lang="en-US" sz="1200" dirty="0"/>
          </a:p>
          <a:p>
            <a:pPr marL="342900" indent="-342900">
              <a:spcAft>
                <a:spcPts val="1000"/>
              </a:spcAft>
              <a:buSzPct val="100000"/>
              <a:buChar char="●"/>
            </a:pPr>
            <a:r>
              <a:rPr lang="en-US" sz="1200" dirty="0">
                <a:solidFill>
                  <a:srgbClr val="16252A"/>
                </a:solidFill>
                <a:latin typeface="Calibri" pitchFamily="34" charset="0"/>
                <a:ea typeface="Calibri" pitchFamily="34" charset="-122"/>
                <a:cs typeface="Calibri" pitchFamily="34" charset="-120"/>
              </a:rPr>
              <a:t>Busier services run 2 replicas; quieter ones run 1 — right-sized, not uniform.</a:t>
            </a:r>
            <a:endParaRPr lang="en-US" sz="12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Load Balancing — Three Layers</a:t>
            </a:r>
            <a:endParaRPr lang="en-US" sz="2600" dirty="0"/>
          </a:p>
        </p:txBody>
      </p:sp>
      <p:pic>
        <p:nvPicPr>
          <p:cNvPr id="3" name="Image 0" descr="/Users/sachinthadilshan/Documents/Projects/ESD/University-Course-Management-System/docs/V3/diagrams/15-load-balancing.png">    </p:cNvPr>
          <p:cNvPicPr>
            <a:picLocks noChangeAspect="1"/>
          </p:cNvPicPr>
          <p:nvPr/>
        </p:nvPicPr>
        <p:blipFill>
          <a:blip r:embed="rId1"/>
          <a:stretch>
            <a:fillRect/>
          </a:stretch>
        </p:blipFill>
        <p:spPr>
          <a:xfrm>
            <a:off x="274320" y="1573012"/>
            <a:ext cx="11612880" cy="3163335"/>
          </a:xfrm>
          <a:prstGeom prst="rect">
            <a:avLst/>
          </a:prstGeom>
        </p:spPr>
      </p:pic>
      <p:sp>
        <p:nvSpPr>
          <p:cNvPr id="4" name="Text 1"/>
          <p:cNvSpPr/>
          <p:nvPr/>
        </p:nvSpPr>
        <p:spPr>
          <a:xfrm>
            <a:off x="457200" y="5394960"/>
            <a:ext cx="11247120" cy="914400"/>
          </a:xfrm>
          <a:prstGeom prst="rect">
            <a:avLst/>
          </a:prstGeom>
          <a:noFill/>
          <a:ln/>
        </p:spPr>
        <p:txBody>
          <a:bodyPr wrap="square" rtlCol="0" anchor="t"/>
          <a:lstStyle/>
          <a:p>
            <a:pPr marL="342900" indent="-342900">
              <a:spcAft>
                <a:spcPts val="1000"/>
              </a:spcAft>
              <a:buSzPct val="100000"/>
              <a:buChar char="●"/>
            </a:pPr>
            <a:r>
              <a:rPr lang="en-US" sz="1250" dirty="0">
                <a:solidFill>
                  <a:srgbClr val="16252A"/>
                </a:solidFill>
                <a:latin typeface="Calibri" pitchFamily="34" charset="0"/>
                <a:ea typeface="Calibri" pitchFamily="34" charset="-122"/>
                <a:cs typeface="Calibri" pitchFamily="34" charset="-120"/>
              </a:rPr>
              <a:t>nginx → gateway replicas (least_conn, DNS re-resolved every 10s)   ·   gateway → service (health-checked every 5s, circuit breaker, GET retried on another replica)   ·   service → service (same pattern, 2s/10s timeouts)</a:t>
            </a:r>
            <a:endParaRPr lang="en-US" sz="125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Zero-Downtime Rolling Deploys</a:t>
            </a:r>
            <a:endParaRPr lang="en-US" sz="2600" dirty="0"/>
          </a:p>
        </p:txBody>
      </p:sp>
      <p:pic>
        <p:nvPicPr>
          <p:cNvPr id="3" name="Image 0" descr="/Users/sachinthadilshan/Documents/Projects/ESD/University-Course-Management-System/docs/V3/diagrams/16-rolling-deploy.png">    </p:cNvPr>
          <p:cNvPicPr>
            <a:picLocks noChangeAspect="1"/>
          </p:cNvPicPr>
          <p:nvPr/>
        </p:nvPicPr>
        <p:blipFill>
          <a:blip r:embed="rId1"/>
          <a:stretch>
            <a:fillRect/>
          </a:stretch>
        </p:blipFill>
        <p:spPr>
          <a:xfrm>
            <a:off x="1017741" y="1005840"/>
            <a:ext cx="7748598" cy="5074920"/>
          </a:xfrm>
          <a:prstGeom prst="rect">
            <a:avLst/>
          </a:prstGeom>
        </p:spPr>
      </p:pic>
      <p:sp>
        <p:nvSpPr>
          <p:cNvPr id="4" name="Shape 1"/>
          <p:cNvSpPr/>
          <p:nvPr/>
        </p:nvSpPr>
        <p:spPr>
          <a:xfrm>
            <a:off x="9418320" y="2103120"/>
            <a:ext cx="2103120" cy="1463040"/>
          </a:xfrm>
          <a:prstGeom prst="roundRect">
            <a:avLst>
              <a:gd name="adj" fmla="val 5000"/>
            </a:avLst>
          </a:prstGeom>
          <a:solidFill>
            <a:srgbClr val="EDF4F3"/>
          </a:solidFill>
          <a:ln/>
          <a:effectLst>
            <a:outerShdw sx="100000" sy="100000" kx="0" ky="0" algn="bl" rotWithShape="0" blurRad="50800" dist="25400" dir="5400000">
              <a:srgbClr val="888888">
                <a:alpha val="25000"/>
              </a:srgbClr>
            </a:outerShdw>
          </a:effectLst>
        </p:spPr>
      </p:sp>
      <p:sp>
        <p:nvSpPr>
          <p:cNvPr id="5" name="Text 2"/>
          <p:cNvSpPr txBox="1"/>
          <p:nvPr/>
        </p:nvSpPr>
        <p:spPr>
          <a:xfrm>
            <a:off x="9418320" y="2212848"/>
            <a:ext cx="2103120" cy="804672"/>
          </a:xfrm>
          <a:prstGeom prst="rect">
            <a:avLst/>
          </a:prstGeom>
          <a:noFill/>
          <a:ln/>
        </p:spPr>
        <p:txBody>
          <a:bodyPr wrap="square" lIns="0" tIns="0" rIns="0" bIns="0" rtlCol="0" anchor="b"/>
          <a:lstStyle/>
          <a:p>
            <a:pPr algn="ctr" indent="0" marL="0">
              <a:buNone/>
            </a:pPr>
            <a:r>
              <a:rPr lang="en-US" sz="3200" b="1" dirty="0">
                <a:solidFill>
                  <a:srgbClr val="1F5F5B"/>
                </a:solidFill>
                <a:latin typeface="Cambria" pitchFamily="34" charset="0"/>
                <a:ea typeface="Cambria" pitchFamily="34" charset="-122"/>
                <a:cs typeface="Cambria" pitchFamily="34" charset="-120"/>
              </a:rPr>
              <a:t>686/686</a:t>
            </a:r>
            <a:endParaRPr lang="en-US" sz="3200" dirty="0"/>
          </a:p>
        </p:txBody>
      </p:sp>
      <p:sp>
        <p:nvSpPr>
          <p:cNvPr id="6" name="Text 3"/>
          <p:cNvSpPr txBox="1"/>
          <p:nvPr/>
        </p:nvSpPr>
        <p:spPr>
          <a:xfrm>
            <a:off x="9509760" y="2980944"/>
            <a:ext cx="1920240" cy="555955"/>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requests OK during a live redeploy</a:t>
            </a:r>
            <a:endParaRPr lang="en-US" sz="11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822960" y="1965960"/>
            <a:ext cx="3657600" cy="1280160"/>
          </a:xfrm>
          <a:prstGeom prst="rect">
            <a:avLst/>
          </a:prstGeom>
          <a:noFill/>
          <a:ln/>
        </p:spPr>
        <p:txBody>
          <a:bodyPr wrap="square" lIns="0" tIns="0" rIns="0" bIns="0" rtlCol="0" anchor="ctr"/>
          <a:lstStyle/>
          <a:p>
            <a:pPr indent="0" marL="0">
              <a:buNone/>
            </a:pPr>
            <a:r>
              <a:rPr lang="en-US" sz="7200" b="1" dirty="0">
                <a:solidFill>
                  <a:srgbClr val="C98A3B"/>
                </a:solidFill>
                <a:latin typeface="Cambria" pitchFamily="34" charset="0"/>
                <a:ea typeface="Cambria" pitchFamily="34" charset="-122"/>
                <a:cs typeface="Cambria" pitchFamily="34" charset="-120"/>
              </a:rPr>
              <a:t>07</a:t>
            </a:r>
            <a:endParaRPr lang="en-US" sz="7200" dirty="0"/>
          </a:p>
        </p:txBody>
      </p:sp>
      <p:sp>
        <p:nvSpPr>
          <p:cNvPr id="3" name="Text 2"/>
          <p:cNvSpPr/>
          <p:nvPr>
            <p:ph idx="102" type="title" hasCustomPrompt="1"/>
          </p:nvPr>
        </p:nvSpPr>
        <p:spPr>
          <a:xfrm>
            <a:off x="822960" y="3246120"/>
            <a:ext cx="10241280" cy="118872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Security &amp; Rate Limiting</a:t>
            </a:r>
            <a:endParaRPr lang="en-US" sz="3400" dirty="0"/>
          </a:p>
        </p:txBody>
      </p:sp>
      <p:sp>
        <p:nvSpPr>
          <p:cNvPr id="4" name="Text 2"/>
          <p:cNvSpPr/>
          <p:nvPr>
            <p:ph idx="103" type="body" hasCustomPrompt="1"/>
          </p:nvPr>
        </p:nvSpPr>
        <p:spPr>
          <a:xfrm>
            <a:off x="822960" y="4343400"/>
            <a:ext cx="9692640" cy="1005840"/>
          </a:xfrm>
          <a:prstGeom prst="rect">
            <a:avLst/>
          </a:prstGeom>
          <a:noFill/>
          <a:ln/>
        </p:spPr>
        <p:txBody>
          <a:bodyPr wrap="square" rtlCol="0" anchor="t"/>
          <a:lstStyle/>
          <a:p>
            <a:pPr algn="l" indent="0" marL="0">
              <a:buNone/>
            </a:pPr>
            <a:r>
              <a:rPr lang="en-US" sz="1600" dirty="0">
                <a:solidFill>
                  <a:srgbClr val="F6EBDD"/>
                </a:solidFill>
                <a:latin typeface="Calibri" pitchFamily="34" charset="0"/>
                <a:ea typeface="Calibri" pitchFamily="34" charset="-122"/>
                <a:cs typeface="Calibri" pitchFamily="34" charset="-120"/>
              </a:rPr>
              <a:t>What protects the system, its data and its users — and what stops any one user or script from overwhelming it.</a:t>
            </a:r>
            <a:endParaRPr lang="en-US" sz="16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Security Hardening</a:t>
            </a:r>
            <a:endParaRPr lang="en-US" sz="2600" dirty="0"/>
          </a:p>
        </p:txBody>
      </p:sp>
      <p:sp>
        <p:nvSpPr>
          <p:cNvPr id="3" name="Shape 1"/>
          <p:cNvSpPr/>
          <p:nvPr/>
        </p:nvSpPr>
        <p:spPr>
          <a:xfrm>
            <a:off x="548640" y="1234440"/>
            <a:ext cx="3611880" cy="5029200"/>
          </a:xfrm>
          <a:prstGeom prst="roundRect">
            <a:avLst>
              <a:gd name="adj" fmla="val 2025"/>
            </a:avLst>
          </a:prstGeom>
          <a:solidFill>
            <a:srgbClr val="EDF4F3"/>
          </a:solidFill>
          <a:ln/>
        </p:spPr>
      </p:sp>
      <p:sp>
        <p:nvSpPr>
          <p:cNvPr id="4" name="Text 2"/>
          <p:cNvSpPr txBox="1"/>
          <p:nvPr/>
        </p:nvSpPr>
        <p:spPr>
          <a:xfrm>
            <a:off x="731520" y="1417320"/>
            <a:ext cx="3246120" cy="365760"/>
          </a:xfrm>
          <a:prstGeom prst="rect">
            <a:avLst/>
          </a:prstGeom>
          <a:noFill/>
          <a:ln/>
        </p:spPr>
        <p:txBody>
          <a:bodyPr wrap="square" lIns="0" tIns="0" rIns="0" bIns="0" rtlCol="0" anchor="ctr"/>
          <a:lstStyle/>
          <a:p>
            <a:pPr indent="0" marL="0">
              <a:buNone/>
            </a:pPr>
            <a:r>
              <a:rPr lang="en-US" sz="1600" b="1" dirty="0">
                <a:solidFill>
                  <a:srgbClr val="1F5F5B"/>
                </a:solidFill>
                <a:latin typeface="Cambria" pitchFamily="34" charset="0"/>
                <a:ea typeface="Cambria" pitchFamily="34" charset="-122"/>
                <a:cs typeface="Cambria" pitchFamily="34" charset="-120"/>
              </a:rPr>
              <a:t>Edge</a:t>
            </a:r>
            <a:endParaRPr lang="en-US" sz="1600" dirty="0"/>
          </a:p>
        </p:txBody>
      </p:sp>
      <p:sp>
        <p:nvSpPr>
          <p:cNvPr id="5" name="Text 3"/>
          <p:cNvSpPr/>
          <p:nvPr/>
        </p:nvSpPr>
        <p:spPr>
          <a:xfrm>
            <a:off x="731520" y="1874520"/>
            <a:ext cx="3246120" cy="4206240"/>
          </a:xfrm>
          <a:prstGeom prst="rect">
            <a:avLst/>
          </a:prstGeom>
          <a:noFill/>
          <a:ln/>
        </p:spPr>
        <p:txBody>
          <a:bodyPr wrap="square" rtlCol="0" anchor="t"/>
          <a:lstStyle/>
          <a:p>
            <a:pPr marL="342900" indent="-342900">
              <a:spcAft>
                <a:spcPts val="1000"/>
              </a:spcAft>
              <a:buSzPct val="100000"/>
              <a:buChar char="●"/>
            </a:pPr>
            <a:r>
              <a:rPr lang="en-US" sz="1150" dirty="0">
                <a:solidFill>
                  <a:srgbClr val="16252A"/>
                </a:solidFill>
                <a:latin typeface="Calibri" pitchFamily="34" charset="0"/>
                <a:ea typeface="Calibri" pitchFamily="34" charset="-122"/>
                <a:cs typeface="Calibri" pitchFamily="34" charset="-120"/>
              </a:rPr>
              <a:t>Only reachable over HTTPS at the real domain — no public plain-HTTP port</a:t>
            </a:r>
            <a:endParaRPr lang="en-US" sz="1150" dirty="0"/>
          </a:p>
          <a:p>
            <a:pPr marL="342900" indent="-342900">
              <a:spcAft>
                <a:spcPts val="1000"/>
              </a:spcAft>
              <a:buSzPct val="100000"/>
              <a:buChar char="●"/>
            </a:pPr>
            <a:r>
              <a:rPr lang="en-US" sz="1150" dirty="0">
                <a:solidFill>
                  <a:srgbClr val="16252A"/>
                </a:solidFill>
                <a:latin typeface="Calibri" pitchFamily="34" charset="0"/>
                <a:ea typeface="Calibri" pitchFamily="34" charset="-122"/>
                <a:cs typeface="Calibri" pitchFamily="34" charset="-120"/>
              </a:rPr>
              <a:t>Strict Content-Security-Policy, HSTS, nosniff, no framing</a:t>
            </a:r>
            <a:endParaRPr lang="en-US" sz="1150" dirty="0"/>
          </a:p>
          <a:p>
            <a:pPr marL="342900" indent="-342900">
              <a:spcAft>
                <a:spcPts val="1000"/>
              </a:spcAft>
              <a:buSzPct val="100000"/>
              <a:buChar char="●"/>
            </a:pPr>
            <a:r>
              <a:rPr lang="en-US" sz="1150" dirty="0">
                <a:solidFill>
                  <a:srgbClr val="16252A"/>
                </a:solidFill>
                <a:latin typeface="Calibri" pitchFamily="34" charset="0"/>
                <a:ea typeface="Calibri" pitchFamily="34" charset="-122"/>
                <a:cs typeface="Calibri" pitchFamily="34" charset="-120"/>
              </a:rPr>
              <a:t>Keycloak's admin console returns 404 from the public site</a:t>
            </a:r>
            <a:endParaRPr lang="en-US" sz="1150" dirty="0"/>
          </a:p>
        </p:txBody>
      </p:sp>
      <p:sp>
        <p:nvSpPr>
          <p:cNvPr id="6" name="Shape 4"/>
          <p:cNvSpPr/>
          <p:nvPr/>
        </p:nvSpPr>
        <p:spPr>
          <a:xfrm>
            <a:off x="4343400" y="1234440"/>
            <a:ext cx="3611880" cy="5029200"/>
          </a:xfrm>
          <a:prstGeom prst="roundRect">
            <a:avLst>
              <a:gd name="adj" fmla="val 2025"/>
            </a:avLst>
          </a:prstGeom>
          <a:solidFill>
            <a:srgbClr val="EDF4F3"/>
          </a:solidFill>
          <a:ln/>
        </p:spPr>
      </p:sp>
      <p:sp>
        <p:nvSpPr>
          <p:cNvPr id="7" name="Text 5"/>
          <p:cNvSpPr txBox="1"/>
          <p:nvPr/>
        </p:nvSpPr>
        <p:spPr>
          <a:xfrm>
            <a:off x="4526280" y="1417320"/>
            <a:ext cx="3246120" cy="365760"/>
          </a:xfrm>
          <a:prstGeom prst="rect">
            <a:avLst/>
          </a:prstGeom>
          <a:noFill/>
          <a:ln/>
        </p:spPr>
        <p:txBody>
          <a:bodyPr wrap="square" lIns="0" tIns="0" rIns="0" bIns="0" rtlCol="0" anchor="ctr"/>
          <a:lstStyle/>
          <a:p>
            <a:pPr indent="0" marL="0">
              <a:buNone/>
            </a:pPr>
            <a:r>
              <a:rPr lang="en-US" sz="1600" b="1" dirty="0">
                <a:solidFill>
                  <a:srgbClr val="1F5F5B"/>
                </a:solidFill>
                <a:latin typeface="Cambria" pitchFamily="34" charset="0"/>
                <a:ea typeface="Cambria" pitchFamily="34" charset="-122"/>
                <a:cs typeface="Cambria" pitchFamily="34" charset="-120"/>
              </a:rPr>
              <a:t>Identity</a:t>
            </a:r>
            <a:endParaRPr lang="en-US" sz="1600" dirty="0"/>
          </a:p>
        </p:txBody>
      </p:sp>
      <p:sp>
        <p:nvSpPr>
          <p:cNvPr id="8" name="Text 6"/>
          <p:cNvSpPr/>
          <p:nvPr/>
        </p:nvSpPr>
        <p:spPr>
          <a:xfrm>
            <a:off x="4526280" y="1874520"/>
            <a:ext cx="3246120" cy="4206240"/>
          </a:xfrm>
          <a:prstGeom prst="rect">
            <a:avLst/>
          </a:prstGeom>
          <a:noFill/>
          <a:ln/>
        </p:spPr>
        <p:txBody>
          <a:bodyPr wrap="square" rtlCol="0" anchor="t"/>
          <a:lstStyle/>
          <a:p>
            <a:pPr marL="342900" indent="-342900">
              <a:spcAft>
                <a:spcPts val="1000"/>
              </a:spcAft>
              <a:buSzPct val="100000"/>
              <a:buChar char="●"/>
            </a:pPr>
            <a:r>
              <a:rPr lang="en-US" sz="1150" dirty="0">
                <a:solidFill>
                  <a:srgbClr val="16252A"/>
                </a:solidFill>
                <a:latin typeface="Calibri" pitchFamily="34" charset="0"/>
                <a:ea typeface="Calibri" pitchFamily="34" charset="-122"/>
                <a:cs typeface="Calibri" pitchFamily="34" charset="-120"/>
              </a:rPr>
              <a:t>12–128 character passwords, not the username/email, not reused</a:t>
            </a:r>
            <a:endParaRPr lang="en-US" sz="1150" dirty="0"/>
          </a:p>
          <a:p>
            <a:pPr marL="342900" indent="-342900">
              <a:spcAft>
                <a:spcPts val="1000"/>
              </a:spcAft>
              <a:buSzPct val="100000"/>
              <a:buChar char="●"/>
            </a:pPr>
            <a:r>
              <a:rPr lang="en-US" sz="1150" dirty="0">
                <a:solidFill>
                  <a:srgbClr val="16252A"/>
                </a:solidFill>
                <a:latin typeface="Calibri" pitchFamily="34" charset="0"/>
                <a:ea typeface="Calibri" pitchFamily="34" charset="-122"/>
                <a:cs typeface="Calibri" pitchFamily="34" charset="-120"/>
              </a:rPr>
              <a:t>Brute-force lockout; every login and admin action logged</a:t>
            </a:r>
            <a:endParaRPr lang="en-US" sz="1150" dirty="0"/>
          </a:p>
          <a:p>
            <a:pPr marL="342900" indent="-342900">
              <a:spcAft>
                <a:spcPts val="1000"/>
              </a:spcAft>
              <a:buSzPct val="100000"/>
              <a:buChar char="●"/>
            </a:pPr>
            <a:r>
              <a:rPr lang="en-US" sz="1150" dirty="0">
                <a:solidFill>
                  <a:srgbClr val="16252A"/>
                </a:solidFill>
                <a:latin typeface="Calibri" pitchFamily="34" charset="0"/>
                <a:ea typeface="Calibri" pitchFamily="34" charset="-122"/>
                <a:cs typeface="Calibri" pitchFamily="34" charset="-120"/>
              </a:rPr>
              <a:t>Admin two-factor login built and verified, ready to switch on</a:t>
            </a:r>
            <a:endParaRPr lang="en-US" sz="1150" dirty="0"/>
          </a:p>
        </p:txBody>
      </p:sp>
      <p:sp>
        <p:nvSpPr>
          <p:cNvPr id="9" name="Shape 7"/>
          <p:cNvSpPr/>
          <p:nvPr/>
        </p:nvSpPr>
        <p:spPr>
          <a:xfrm>
            <a:off x="8138160" y="1234440"/>
            <a:ext cx="3611880" cy="5029200"/>
          </a:xfrm>
          <a:prstGeom prst="roundRect">
            <a:avLst>
              <a:gd name="adj" fmla="val 2025"/>
            </a:avLst>
          </a:prstGeom>
          <a:solidFill>
            <a:srgbClr val="EDF4F3"/>
          </a:solidFill>
          <a:ln/>
        </p:spPr>
      </p:sp>
      <p:sp>
        <p:nvSpPr>
          <p:cNvPr id="10" name="Text 8"/>
          <p:cNvSpPr txBox="1"/>
          <p:nvPr/>
        </p:nvSpPr>
        <p:spPr>
          <a:xfrm>
            <a:off x="8321040" y="1417320"/>
            <a:ext cx="3246120" cy="365760"/>
          </a:xfrm>
          <a:prstGeom prst="rect">
            <a:avLst/>
          </a:prstGeom>
          <a:noFill/>
          <a:ln/>
        </p:spPr>
        <p:txBody>
          <a:bodyPr wrap="square" lIns="0" tIns="0" rIns="0" bIns="0" rtlCol="0" anchor="ctr"/>
          <a:lstStyle/>
          <a:p>
            <a:pPr indent="0" marL="0">
              <a:buNone/>
            </a:pPr>
            <a:r>
              <a:rPr lang="en-US" sz="1600" b="1" dirty="0">
                <a:solidFill>
                  <a:srgbClr val="1F5F5B"/>
                </a:solidFill>
                <a:latin typeface="Cambria" pitchFamily="34" charset="0"/>
                <a:ea typeface="Cambria" pitchFamily="34" charset="-122"/>
                <a:cs typeface="Cambria" pitchFamily="34" charset="-120"/>
              </a:rPr>
              <a:t>Containers &amp; network</a:t>
            </a:r>
            <a:endParaRPr lang="en-US" sz="1600" dirty="0"/>
          </a:p>
        </p:txBody>
      </p:sp>
      <p:sp>
        <p:nvSpPr>
          <p:cNvPr id="11" name="Text 9"/>
          <p:cNvSpPr/>
          <p:nvPr/>
        </p:nvSpPr>
        <p:spPr>
          <a:xfrm>
            <a:off x="8321040" y="1874520"/>
            <a:ext cx="3246120" cy="4206240"/>
          </a:xfrm>
          <a:prstGeom prst="rect">
            <a:avLst/>
          </a:prstGeom>
          <a:noFill/>
          <a:ln/>
        </p:spPr>
        <p:txBody>
          <a:bodyPr wrap="square" rtlCol="0" anchor="t"/>
          <a:lstStyle/>
          <a:p>
            <a:pPr marL="342900" indent="-342900">
              <a:spcAft>
                <a:spcPts val="1000"/>
              </a:spcAft>
              <a:buSzPct val="100000"/>
              <a:buChar char="●"/>
            </a:pPr>
            <a:r>
              <a:rPr lang="en-US" sz="1150" dirty="0">
                <a:solidFill>
                  <a:srgbClr val="16252A"/>
                </a:solidFill>
                <a:latin typeface="Calibri" pitchFamily="34" charset="0"/>
                <a:ea typeface="Calibri" pitchFamily="34" charset="-122"/>
                <a:cs typeface="Calibri" pitchFamily="34" charset="-120"/>
              </a:rPr>
              <a:t>Every service runs as a non-root user on a read-only filesystem, zero Linux capabilities</a:t>
            </a:r>
            <a:endParaRPr lang="en-US" sz="1150" dirty="0"/>
          </a:p>
          <a:p>
            <a:pPr marL="342900" indent="-342900">
              <a:spcAft>
                <a:spcPts val="1000"/>
              </a:spcAft>
              <a:buSzPct val="100000"/>
              <a:buChar char="●"/>
            </a:pPr>
            <a:r>
              <a:rPr lang="en-US" sz="1150" dirty="0">
                <a:solidFill>
                  <a:srgbClr val="16252A"/>
                </a:solidFill>
                <a:latin typeface="Calibri" pitchFamily="34" charset="0"/>
                <a:ea typeface="Calibri" pitchFamily="34" charset="-122"/>
                <a:cs typeface="Calibri" pitchFamily="34" charset="-120"/>
              </a:rPr>
              <a:t>Three isolated Docker networks — the public-facing container cannot reach the database</a:t>
            </a:r>
            <a:endParaRPr lang="en-US" sz="1150" dirty="0"/>
          </a:p>
        </p:txBody>
      </p:sp>
      <p:sp>
        <p:nvSpPr>
          <p:cNvPr id="13" name="Text 2"/>
          <p:cNvSpPr/>
          <p:nvPr>
            <p:ph idx="103" type="body" hasCustomPrompt="1"/>
          </p:nvPr>
        </p:nvSpPr>
        <p:spPr>
          <a:xfrm>
            <a:off x="548640" y="1188720"/>
            <a:ext cx="11064240" cy="521208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Rate Limiting — Two Layers</a:t>
            </a:r>
            <a:endParaRPr lang="en-US" sz="2600" dirty="0"/>
          </a:p>
        </p:txBody>
      </p:sp>
      <p:sp>
        <p:nvSpPr>
          <p:cNvPr id="3" name="Text 1"/>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450" b="1" dirty="0">
                <a:solidFill>
                  <a:srgbClr val="1F5F5B"/>
                </a:solidFill>
                <a:latin typeface="Calibri" pitchFamily="34" charset="0"/>
                <a:ea typeface="Calibri" pitchFamily="34" charset="-122"/>
                <a:cs typeface="Calibri" pitchFamily="34" charset="-120"/>
              </a:rPr>
              <a:t>nginx — per client IP (a flood guard, before any service does work)</a:t>
            </a:r>
            <a:endParaRPr lang="en-US" sz="1450" dirty="0"/>
          </a:p>
        </p:txBody>
      </p:sp>
      <p:sp>
        <p:nvSpPr>
          <p:cNvPr id="4" name="Shape 2"/>
          <p:cNvSpPr/>
          <p:nvPr/>
        </p:nvSpPr>
        <p:spPr>
          <a:xfrm>
            <a:off x="548640" y="1645920"/>
            <a:ext cx="2606040" cy="1051560"/>
          </a:xfrm>
          <a:prstGeom prst="roundRect">
            <a:avLst>
              <a:gd name="adj" fmla="val 6957"/>
            </a:avLst>
          </a:prstGeom>
          <a:solidFill>
            <a:srgbClr val="EDF4F3"/>
          </a:solidFill>
          <a:ln/>
          <a:effectLst>
            <a:outerShdw sx="100000" sy="100000" kx="0" ky="0" algn="bl" rotWithShape="0" blurRad="50800" dist="25400" dir="5400000">
              <a:srgbClr val="888888">
                <a:alpha val="25000"/>
              </a:srgbClr>
            </a:outerShdw>
          </a:effectLst>
        </p:spPr>
      </p:sp>
      <p:sp>
        <p:nvSpPr>
          <p:cNvPr id="5" name="Text 3"/>
          <p:cNvSpPr txBox="1"/>
          <p:nvPr/>
        </p:nvSpPr>
        <p:spPr>
          <a:xfrm>
            <a:off x="548640" y="1755648"/>
            <a:ext cx="2606040" cy="578358"/>
          </a:xfrm>
          <a:prstGeom prst="rect">
            <a:avLst/>
          </a:prstGeom>
          <a:noFill/>
          <a:ln/>
        </p:spPr>
        <p:txBody>
          <a:bodyPr wrap="square" lIns="0" tIns="0" rIns="0" bIns="0" rtlCol="0" anchor="b"/>
          <a:lstStyle/>
          <a:p>
            <a:pPr algn="ctr" indent="0" marL="0">
              <a:buNone/>
            </a:pPr>
            <a:r>
              <a:rPr lang="en-US" sz="3200" b="1" dirty="0">
                <a:solidFill>
                  <a:srgbClr val="2F7D77"/>
                </a:solidFill>
                <a:latin typeface="Cambria" pitchFamily="34" charset="0"/>
                <a:ea typeface="Cambria" pitchFamily="34" charset="-122"/>
                <a:cs typeface="Cambria" pitchFamily="34" charset="-120"/>
              </a:rPr>
              <a:t>30 / min</a:t>
            </a:r>
            <a:endParaRPr lang="en-US" sz="3200" dirty="0"/>
          </a:p>
        </p:txBody>
      </p:sp>
      <p:sp>
        <p:nvSpPr>
          <p:cNvPr id="6" name="Text 4"/>
          <p:cNvSpPr txBox="1"/>
          <p:nvPr/>
        </p:nvSpPr>
        <p:spPr>
          <a:xfrm>
            <a:off x="640080" y="2276856"/>
            <a:ext cx="2423160" cy="399593"/>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Login form</a:t>
            </a:r>
            <a:endParaRPr lang="en-US" sz="1100" dirty="0"/>
          </a:p>
        </p:txBody>
      </p:sp>
      <p:sp>
        <p:nvSpPr>
          <p:cNvPr id="7" name="Shape 5"/>
          <p:cNvSpPr/>
          <p:nvPr/>
        </p:nvSpPr>
        <p:spPr>
          <a:xfrm>
            <a:off x="3291840" y="1645920"/>
            <a:ext cx="2606040" cy="1051560"/>
          </a:xfrm>
          <a:prstGeom prst="roundRect">
            <a:avLst>
              <a:gd name="adj" fmla="val 6957"/>
            </a:avLst>
          </a:prstGeom>
          <a:solidFill>
            <a:srgbClr val="EDF4F3"/>
          </a:solidFill>
          <a:ln/>
          <a:effectLst>
            <a:outerShdw sx="100000" sy="100000" kx="0" ky="0" algn="bl" rotWithShape="0" blurRad="50800" dist="25400" dir="5400000">
              <a:srgbClr val="888888">
                <a:alpha val="25000"/>
              </a:srgbClr>
            </a:outerShdw>
          </a:effectLst>
        </p:spPr>
      </p:sp>
      <p:sp>
        <p:nvSpPr>
          <p:cNvPr id="8" name="Text 6"/>
          <p:cNvSpPr txBox="1"/>
          <p:nvPr/>
        </p:nvSpPr>
        <p:spPr>
          <a:xfrm>
            <a:off x="3291840" y="1755648"/>
            <a:ext cx="2606040" cy="578358"/>
          </a:xfrm>
          <a:prstGeom prst="rect">
            <a:avLst/>
          </a:prstGeom>
          <a:noFill/>
          <a:ln/>
        </p:spPr>
        <p:txBody>
          <a:bodyPr wrap="square" lIns="0" tIns="0" rIns="0" bIns="0" rtlCol="0" anchor="b"/>
          <a:lstStyle/>
          <a:p>
            <a:pPr algn="ctr" indent="0" marL="0">
              <a:buNone/>
            </a:pPr>
            <a:r>
              <a:rPr lang="en-US" sz="3200" b="1" dirty="0">
                <a:solidFill>
                  <a:srgbClr val="2F7D77"/>
                </a:solidFill>
                <a:latin typeface="Cambria" pitchFamily="34" charset="0"/>
                <a:ea typeface="Cambria" pitchFamily="34" charset="-122"/>
                <a:cs typeface="Cambria" pitchFamily="34" charset="-120"/>
              </a:rPr>
              <a:t>120 / min</a:t>
            </a:r>
            <a:endParaRPr lang="en-US" sz="3200" dirty="0"/>
          </a:p>
        </p:txBody>
      </p:sp>
      <p:sp>
        <p:nvSpPr>
          <p:cNvPr id="9" name="Text 7"/>
          <p:cNvSpPr txBox="1"/>
          <p:nvPr/>
        </p:nvSpPr>
        <p:spPr>
          <a:xfrm>
            <a:off x="3383280" y="2276856"/>
            <a:ext cx="2423160" cy="399593"/>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Token endpoint</a:t>
            </a:r>
            <a:endParaRPr lang="en-US" sz="1100" dirty="0"/>
          </a:p>
        </p:txBody>
      </p:sp>
      <p:sp>
        <p:nvSpPr>
          <p:cNvPr id="10" name="Shape 8"/>
          <p:cNvSpPr/>
          <p:nvPr/>
        </p:nvSpPr>
        <p:spPr>
          <a:xfrm>
            <a:off x="6035040" y="1645920"/>
            <a:ext cx="2606040" cy="1051560"/>
          </a:xfrm>
          <a:prstGeom prst="roundRect">
            <a:avLst>
              <a:gd name="adj" fmla="val 6957"/>
            </a:avLst>
          </a:prstGeom>
          <a:solidFill>
            <a:srgbClr val="EDF4F3"/>
          </a:solidFill>
          <a:ln/>
          <a:effectLst>
            <a:outerShdw sx="100000" sy="100000" kx="0" ky="0" algn="bl" rotWithShape="0" blurRad="50800" dist="25400" dir="5400000">
              <a:srgbClr val="888888">
                <a:alpha val="25000"/>
              </a:srgbClr>
            </a:outerShdw>
          </a:effectLst>
        </p:spPr>
      </p:sp>
      <p:sp>
        <p:nvSpPr>
          <p:cNvPr id="11" name="Text 9"/>
          <p:cNvSpPr txBox="1"/>
          <p:nvPr/>
        </p:nvSpPr>
        <p:spPr>
          <a:xfrm>
            <a:off x="6035040" y="1755648"/>
            <a:ext cx="2606040" cy="578358"/>
          </a:xfrm>
          <a:prstGeom prst="rect">
            <a:avLst/>
          </a:prstGeom>
          <a:noFill/>
          <a:ln/>
        </p:spPr>
        <p:txBody>
          <a:bodyPr wrap="square" lIns="0" tIns="0" rIns="0" bIns="0" rtlCol="0" anchor="b"/>
          <a:lstStyle/>
          <a:p>
            <a:pPr algn="ctr" indent="0" marL="0">
              <a:buNone/>
            </a:pPr>
            <a:r>
              <a:rPr lang="en-US" sz="3200" b="1" dirty="0">
                <a:solidFill>
                  <a:srgbClr val="2F7D77"/>
                </a:solidFill>
                <a:latin typeface="Cambria" pitchFamily="34" charset="0"/>
                <a:ea typeface="Cambria" pitchFamily="34" charset="-122"/>
                <a:cs typeface="Cambria" pitchFamily="34" charset="-120"/>
              </a:rPr>
              <a:t>50 / sec</a:t>
            </a:r>
            <a:endParaRPr lang="en-US" sz="3200" dirty="0"/>
          </a:p>
        </p:txBody>
      </p:sp>
      <p:sp>
        <p:nvSpPr>
          <p:cNvPr id="12" name="Text 10"/>
          <p:cNvSpPr txBox="1"/>
          <p:nvPr/>
        </p:nvSpPr>
        <p:spPr>
          <a:xfrm>
            <a:off x="6126480" y="2276856"/>
            <a:ext cx="2423160" cy="399593"/>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General API</a:t>
            </a:r>
            <a:endParaRPr lang="en-US" sz="1100" dirty="0"/>
          </a:p>
        </p:txBody>
      </p:sp>
      <p:sp>
        <p:nvSpPr>
          <p:cNvPr id="13" name="Shape 11"/>
          <p:cNvSpPr/>
          <p:nvPr/>
        </p:nvSpPr>
        <p:spPr>
          <a:xfrm>
            <a:off x="8778240" y="1645920"/>
            <a:ext cx="2606040" cy="1051560"/>
          </a:xfrm>
          <a:prstGeom prst="roundRect">
            <a:avLst>
              <a:gd name="adj" fmla="val 6957"/>
            </a:avLst>
          </a:prstGeom>
          <a:solidFill>
            <a:srgbClr val="EDF4F3"/>
          </a:solidFill>
          <a:ln/>
          <a:effectLst>
            <a:outerShdw sx="100000" sy="100000" kx="0" ky="0" algn="bl" rotWithShape="0" blurRad="50800" dist="25400" dir="5400000">
              <a:srgbClr val="888888">
                <a:alpha val="25000"/>
              </a:srgbClr>
            </a:outerShdw>
          </a:effectLst>
        </p:spPr>
      </p:sp>
      <p:sp>
        <p:nvSpPr>
          <p:cNvPr id="14" name="Text 12"/>
          <p:cNvSpPr txBox="1"/>
          <p:nvPr/>
        </p:nvSpPr>
        <p:spPr>
          <a:xfrm>
            <a:off x="8778240" y="1755648"/>
            <a:ext cx="2606040" cy="578358"/>
          </a:xfrm>
          <a:prstGeom prst="rect">
            <a:avLst/>
          </a:prstGeom>
          <a:noFill/>
          <a:ln/>
        </p:spPr>
        <p:txBody>
          <a:bodyPr wrap="square" lIns="0" tIns="0" rIns="0" bIns="0" rtlCol="0" anchor="b"/>
          <a:lstStyle/>
          <a:p>
            <a:pPr algn="ctr" indent="0" marL="0">
              <a:buNone/>
            </a:pPr>
            <a:r>
              <a:rPr lang="en-US" sz="3200" b="1" dirty="0">
                <a:solidFill>
                  <a:srgbClr val="2F7D77"/>
                </a:solidFill>
                <a:latin typeface="Cambria" pitchFamily="34" charset="0"/>
                <a:ea typeface="Cambria" pitchFamily="34" charset="-122"/>
                <a:cs typeface="Cambria" pitchFamily="34" charset="-120"/>
              </a:rPr>
              <a:t>10 open</a:t>
            </a:r>
            <a:endParaRPr lang="en-US" sz="3200" dirty="0"/>
          </a:p>
        </p:txBody>
      </p:sp>
      <p:sp>
        <p:nvSpPr>
          <p:cNvPr id="15" name="Text 13"/>
          <p:cNvSpPr txBox="1"/>
          <p:nvPr/>
        </p:nvSpPr>
        <p:spPr>
          <a:xfrm>
            <a:off x="8869680" y="2276856"/>
            <a:ext cx="2423160" cy="399593"/>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Live notification streams (per IP)</a:t>
            </a:r>
            <a:endParaRPr lang="en-US" sz="1100" dirty="0"/>
          </a:p>
        </p:txBody>
      </p:sp>
      <p:sp>
        <p:nvSpPr>
          <p:cNvPr id="16" name="Text 14"/>
          <p:cNvSpPr txBox="1"/>
          <p:nvPr/>
        </p:nvSpPr>
        <p:spPr>
          <a:xfrm>
            <a:off x="548640" y="3017520"/>
            <a:ext cx="11064240" cy="365760"/>
          </a:xfrm>
          <a:prstGeom prst="rect">
            <a:avLst/>
          </a:prstGeom>
          <a:noFill/>
          <a:ln/>
        </p:spPr>
        <p:txBody>
          <a:bodyPr wrap="square" lIns="0" tIns="0" rIns="0" bIns="0" rtlCol="0" anchor="ctr"/>
          <a:lstStyle/>
          <a:p>
            <a:pPr indent="0" marL="0">
              <a:buNone/>
            </a:pPr>
            <a:r>
              <a:rPr lang="en-US" sz="1450" b="1" dirty="0">
                <a:solidFill>
                  <a:srgbClr val="1F5F5B"/>
                </a:solidFill>
                <a:latin typeface="Calibri" pitchFamily="34" charset="0"/>
                <a:ea typeface="Calibri" pitchFamily="34" charset="-122"/>
                <a:cs typeface="Calibri" pitchFamily="34" charset="-120"/>
              </a:rPr>
              <a:t>API Gateway — per signed-in user, shared across replicas via Redis</a:t>
            </a:r>
            <a:endParaRPr lang="en-US" sz="1450" dirty="0"/>
          </a:p>
        </p:txBody>
      </p:sp>
      <p:sp>
        <p:nvSpPr>
          <p:cNvPr id="17" name="Shape 15"/>
          <p:cNvSpPr/>
          <p:nvPr/>
        </p:nvSpPr>
        <p:spPr>
          <a:xfrm>
            <a:off x="548640" y="3474720"/>
            <a:ext cx="2130552" cy="1051560"/>
          </a:xfrm>
          <a:prstGeom prst="roundRect">
            <a:avLst>
              <a:gd name="adj" fmla="val 6957"/>
            </a:avLst>
          </a:prstGeom>
          <a:solidFill>
            <a:srgbClr val="EDF4F3"/>
          </a:solidFill>
          <a:ln/>
          <a:effectLst>
            <a:outerShdw sx="100000" sy="100000" kx="0" ky="0" algn="bl" rotWithShape="0" blurRad="50800" dist="25400" dir="5400000">
              <a:srgbClr val="888888">
                <a:alpha val="25000"/>
              </a:srgbClr>
            </a:outerShdw>
          </a:effectLst>
        </p:spPr>
      </p:sp>
      <p:sp>
        <p:nvSpPr>
          <p:cNvPr id="18" name="Text 16"/>
          <p:cNvSpPr txBox="1"/>
          <p:nvPr/>
        </p:nvSpPr>
        <p:spPr>
          <a:xfrm>
            <a:off x="548640" y="3584448"/>
            <a:ext cx="2130552" cy="578358"/>
          </a:xfrm>
          <a:prstGeom prst="rect">
            <a:avLst/>
          </a:prstGeom>
          <a:noFill/>
          <a:ln/>
        </p:spPr>
        <p:txBody>
          <a:bodyPr wrap="square" lIns="0" tIns="0" rIns="0" bIns="0" rtlCol="0" anchor="b"/>
          <a:lstStyle/>
          <a:p>
            <a:pPr algn="ctr" indent="0" marL="0">
              <a:buNone/>
            </a:pPr>
            <a:r>
              <a:rPr lang="en-US" sz="3200" b="1" dirty="0">
                <a:solidFill>
                  <a:srgbClr val="C98A3B"/>
                </a:solidFill>
                <a:latin typeface="Cambria" pitchFamily="34" charset="0"/>
                <a:ea typeface="Cambria" pitchFamily="34" charset="-122"/>
                <a:cs typeface="Cambria" pitchFamily="34" charset="-120"/>
              </a:rPr>
              <a:t>10 / min</a:t>
            </a:r>
            <a:endParaRPr lang="en-US" sz="3200" dirty="0"/>
          </a:p>
        </p:txBody>
      </p:sp>
      <p:sp>
        <p:nvSpPr>
          <p:cNvPr id="19" name="Text 17"/>
          <p:cNvSpPr txBox="1"/>
          <p:nvPr/>
        </p:nvSpPr>
        <p:spPr>
          <a:xfrm>
            <a:off x="640080" y="4105656"/>
            <a:ext cx="1947672" cy="399593"/>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Uploads</a:t>
            </a:r>
            <a:endParaRPr lang="en-US" sz="1100" dirty="0"/>
          </a:p>
        </p:txBody>
      </p:sp>
      <p:sp>
        <p:nvSpPr>
          <p:cNvPr id="20" name="Shape 18"/>
          <p:cNvSpPr/>
          <p:nvPr/>
        </p:nvSpPr>
        <p:spPr>
          <a:xfrm>
            <a:off x="2816352" y="3474720"/>
            <a:ext cx="2130552" cy="1051560"/>
          </a:xfrm>
          <a:prstGeom prst="roundRect">
            <a:avLst>
              <a:gd name="adj" fmla="val 6957"/>
            </a:avLst>
          </a:prstGeom>
          <a:solidFill>
            <a:srgbClr val="EDF4F3"/>
          </a:solidFill>
          <a:ln/>
          <a:effectLst>
            <a:outerShdw sx="100000" sy="100000" kx="0" ky="0" algn="bl" rotWithShape="0" blurRad="50800" dist="25400" dir="5400000">
              <a:srgbClr val="888888">
                <a:alpha val="25000"/>
              </a:srgbClr>
            </a:outerShdw>
          </a:effectLst>
        </p:spPr>
      </p:sp>
      <p:sp>
        <p:nvSpPr>
          <p:cNvPr id="21" name="Text 19"/>
          <p:cNvSpPr txBox="1"/>
          <p:nvPr/>
        </p:nvSpPr>
        <p:spPr>
          <a:xfrm>
            <a:off x="2816352" y="3584448"/>
            <a:ext cx="2130552" cy="578358"/>
          </a:xfrm>
          <a:prstGeom prst="rect">
            <a:avLst/>
          </a:prstGeom>
          <a:noFill/>
          <a:ln/>
        </p:spPr>
        <p:txBody>
          <a:bodyPr wrap="square" lIns="0" tIns="0" rIns="0" bIns="0" rtlCol="0" anchor="b"/>
          <a:lstStyle/>
          <a:p>
            <a:pPr algn="ctr" indent="0" marL="0">
              <a:buNone/>
            </a:pPr>
            <a:r>
              <a:rPr lang="en-US" sz="3200" b="1" dirty="0">
                <a:solidFill>
                  <a:srgbClr val="C98A3B"/>
                </a:solidFill>
                <a:latin typeface="Cambria" pitchFamily="34" charset="0"/>
                <a:ea typeface="Cambria" pitchFamily="34" charset="-122"/>
                <a:cs typeface="Cambria" pitchFamily="34" charset="-120"/>
              </a:rPr>
              <a:t>6 / min</a:t>
            </a:r>
            <a:endParaRPr lang="en-US" sz="3200" dirty="0"/>
          </a:p>
        </p:txBody>
      </p:sp>
      <p:sp>
        <p:nvSpPr>
          <p:cNvPr id="22" name="Text 20"/>
          <p:cNvSpPr txBox="1"/>
          <p:nvPr/>
        </p:nvSpPr>
        <p:spPr>
          <a:xfrm>
            <a:off x="2907792" y="4105656"/>
            <a:ext cx="1947672" cy="399593"/>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Analytics writes</a:t>
            </a:r>
            <a:endParaRPr lang="en-US" sz="1100" dirty="0"/>
          </a:p>
        </p:txBody>
      </p:sp>
      <p:sp>
        <p:nvSpPr>
          <p:cNvPr id="23" name="Shape 21"/>
          <p:cNvSpPr/>
          <p:nvPr/>
        </p:nvSpPr>
        <p:spPr>
          <a:xfrm>
            <a:off x="5084064" y="3474720"/>
            <a:ext cx="2130552" cy="1051560"/>
          </a:xfrm>
          <a:prstGeom prst="roundRect">
            <a:avLst>
              <a:gd name="adj" fmla="val 6957"/>
            </a:avLst>
          </a:prstGeom>
          <a:solidFill>
            <a:srgbClr val="EDF4F3"/>
          </a:solidFill>
          <a:ln/>
          <a:effectLst>
            <a:outerShdw sx="100000" sy="100000" kx="0" ky="0" algn="bl" rotWithShape="0" blurRad="50800" dist="25400" dir="5400000">
              <a:srgbClr val="888888">
                <a:alpha val="25000"/>
              </a:srgbClr>
            </a:outerShdw>
          </a:effectLst>
        </p:spPr>
      </p:sp>
      <p:sp>
        <p:nvSpPr>
          <p:cNvPr id="24" name="Text 22"/>
          <p:cNvSpPr txBox="1"/>
          <p:nvPr/>
        </p:nvSpPr>
        <p:spPr>
          <a:xfrm>
            <a:off x="5084064" y="3584448"/>
            <a:ext cx="2130552" cy="578358"/>
          </a:xfrm>
          <a:prstGeom prst="rect">
            <a:avLst/>
          </a:prstGeom>
          <a:noFill/>
          <a:ln/>
        </p:spPr>
        <p:txBody>
          <a:bodyPr wrap="square" lIns="0" tIns="0" rIns="0" bIns="0" rtlCol="0" anchor="b"/>
          <a:lstStyle/>
          <a:p>
            <a:pPr algn="ctr" indent="0" marL="0">
              <a:buNone/>
            </a:pPr>
            <a:r>
              <a:rPr lang="en-US" sz="3200" b="1" dirty="0">
                <a:solidFill>
                  <a:srgbClr val="C98A3B"/>
                </a:solidFill>
                <a:latin typeface="Cambria" pitchFamily="34" charset="0"/>
                <a:ea typeface="Cambria" pitchFamily="34" charset="-122"/>
                <a:cs typeface="Cambria" pitchFamily="34" charset="-120"/>
              </a:rPr>
              <a:t>2 / sec</a:t>
            </a:r>
            <a:endParaRPr lang="en-US" sz="3200" dirty="0"/>
          </a:p>
        </p:txBody>
      </p:sp>
      <p:sp>
        <p:nvSpPr>
          <p:cNvPr id="25" name="Text 23"/>
          <p:cNvSpPr txBox="1"/>
          <p:nvPr/>
        </p:nvSpPr>
        <p:spPr>
          <a:xfrm>
            <a:off x="5175504" y="4105656"/>
            <a:ext cx="1947672" cy="399593"/>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Enrollment writes</a:t>
            </a:r>
            <a:endParaRPr lang="en-US" sz="1100" dirty="0"/>
          </a:p>
        </p:txBody>
      </p:sp>
      <p:sp>
        <p:nvSpPr>
          <p:cNvPr id="26" name="Shape 24"/>
          <p:cNvSpPr/>
          <p:nvPr/>
        </p:nvSpPr>
        <p:spPr>
          <a:xfrm>
            <a:off x="7351776" y="3474720"/>
            <a:ext cx="2130552" cy="1051560"/>
          </a:xfrm>
          <a:prstGeom prst="roundRect">
            <a:avLst>
              <a:gd name="adj" fmla="val 6957"/>
            </a:avLst>
          </a:prstGeom>
          <a:solidFill>
            <a:srgbClr val="EDF4F3"/>
          </a:solidFill>
          <a:ln/>
          <a:effectLst>
            <a:outerShdw sx="100000" sy="100000" kx="0" ky="0" algn="bl" rotWithShape="0" blurRad="50800" dist="25400" dir="5400000">
              <a:srgbClr val="888888">
                <a:alpha val="25000"/>
              </a:srgbClr>
            </a:outerShdw>
          </a:effectLst>
        </p:spPr>
      </p:sp>
      <p:sp>
        <p:nvSpPr>
          <p:cNvPr id="27" name="Text 25"/>
          <p:cNvSpPr txBox="1"/>
          <p:nvPr/>
        </p:nvSpPr>
        <p:spPr>
          <a:xfrm>
            <a:off x="7351776" y="3584448"/>
            <a:ext cx="2130552" cy="578358"/>
          </a:xfrm>
          <a:prstGeom prst="rect">
            <a:avLst/>
          </a:prstGeom>
          <a:noFill/>
          <a:ln/>
        </p:spPr>
        <p:txBody>
          <a:bodyPr wrap="square" lIns="0" tIns="0" rIns="0" bIns="0" rtlCol="0" anchor="b"/>
          <a:lstStyle/>
          <a:p>
            <a:pPr algn="ctr" indent="0" marL="0">
              <a:buNone/>
            </a:pPr>
            <a:r>
              <a:rPr lang="en-US" sz="3200" b="1" dirty="0">
                <a:solidFill>
                  <a:srgbClr val="C98A3B"/>
                </a:solidFill>
                <a:latin typeface="Cambria" pitchFamily="34" charset="0"/>
                <a:ea typeface="Cambria" pitchFamily="34" charset="-122"/>
                <a:cs typeface="Cambria" pitchFamily="34" charset="-120"/>
              </a:rPr>
              <a:t>2 / sec</a:t>
            </a:r>
            <a:endParaRPr lang="en-US" sz="3200" dirty="0"/>
          </a:p>
        </p:txBody>
      </p:sp>
      <p:sp>
        <p:nvSpPr>
          <p:cNvPr id="28" name="Text 26"/>
          <p:cNvSpPr txBox="1"/>
          <p:nvPr/>
        </p:nvSpPr>
        <p:spPr>
          <a:xfrm>
            <a:off x="7443216" y="4105656"/>
            <a:ext cx="1947672" cy="399593"/>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Account writes</a:t>
            </a:r>
            <a:endParaRPr lang="en-US" sz="1100" dirty="0"/>
          </a:p>
        </p:txBody>
      </p:sp>
      <p:sp>
        <p:nvSpPr>
          <p:cNvPr id="29" name="Shape 27"/>
          <p:cNvSpPr/>
          <p:nvPr/>
        </p:nvSpPr>
        <p:spPr>
          <a:xfrm>
            <a:off x="9619488" y="3474720"/>
            <a:ext cx="2130552" cy="1051560"/>
          </a:xfrm>
          <a:prstGeom prst="roundRect">
            <a:avLst>
              <a:gd name="adj" fmla="val 6957"/>
            </a:avLst>
          </a:prstGeom>
          <a:solidFill>
            <a:srgbClr val="EDF4F3"/>
          </a:solidFill>
          <a:ln/>
          <a:effectLst>
            <a:outerShdw sx="100000" sy="100000" kx="0" ky="0" algn="bl" rotWithShape="0" blurRad="50800" dist="25400" dir="5400000">
              <a:srgbClr val="888888">
                <a:alpha val="25000"/>
              </a:srgbClr>
            </a:outerShdw>
          </a:effectLst>
        </p:spPr>
      </p:sp>
      <p:sp>
        <p:nvSpPr>
          <p:cNvPr id="30" name="Text 28"/>
          <p:cNvSpPr txBox="1"/>
          <p:nvPr/>
        </p:nvSpPr>
        <p:spPr>
          <a:xfrm>
            <a:off x="9619488" y="3584448"/>
            <a:ext cx="2130552" cy="578358"/>
          </a:xfrm>
          <a:prstGeom prst="rect">
            <a:avLst/>
          </a:prstGeom>
          <a:noFill/>
          <a:ln/>
        </p:spPr>
        <p:txBody>
          <a:bodyPr wrap="square" lIns="0" tIns="0" rIns="0" bIns="0" rtlCol="0" anchor="b"/>
          <a:lstStyle/>
          <a:p>
            <a:pPr algn="ctr" indent="0" marL="0">
              <a:buNone/>
            </a:pPr>
            <a:r>
              <a:rPr lang="en-US" sz="3200" b="1" dirty="0">
                <a:solidFill>
                  <a:srgbClr val="C98A3B"/>
                </a:solidFill>
                <a:latin typeface="Cambria" pitchFamily="34" charset="0"/>
                <a:ea typeface="Cambria" pitchFamily="34" charset="-122"/>
                <a:cs typeface="Cambria" pitchFamily="34" charset="-120"/>
              </a:rPr>
              <a:t>20 / sec</a:t>
            </a:r>
            <a:endParaRPr lang="en-US" sz="3200" dirty="0"/>
          </a:p>
        </p:txBody>
      </p:sp>
      <p:sp>
        <p:nvSpPr>
          <p:cNvPr id="31" name="Text 29"/>
          <p:cNvSpPr txBox="1"/>
          <p:nvPr/>
        </p:nvSpPr>
        <p:spPr>
          <a:xfrm>
            <a:off x="9710928" y="4105656"/>
            <a:ext cx="1947672" cy="399593"/>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Everything else</a:t>
            </a:r>
            <a:endParaRPr lang="en-US" sz="1100" dirty="0"/>
          </a:p>
        </p:txBody>
      </p:sp>
      <p:sp>
        <p:nvSpPr>
          <p:cNvPr id="32" name="Text 30"/>
          <p:cNvSpPr/>
          <p:nvPr/>
        </p:nvSpPr>
        <p:spPr>
          <a:xfrm>
            <a:off x="548640" y="4846320"/>
            <a:ext cx="11064240" cy="1463040"/>
          </a:xfrm>
          <a:prstGeom prst="rect">
            <a:avLst/>
          </a:prstGeom>
          <a:noFill/>
          <a:ln/>
        </p:spPr>
        <p:txBody>
          <a:bodyPr wrap="square" rtlCol="0" anchor="t"/>
          <a:lstStyle/>
          <a:p>
            <a:pPr marL="342900" indent="-342900">
              <a:spcAft>
                <a:spcPts val="1000"/>
              </a:spcAft>
              <a:buSzPct val="100000"/>
              <a:buChar char="●"/>
            </a:pPr>
            <a:r>
              <a:rPr lang="en-US" sz="1250" dirty="0">
                <a:solidFill>
                  <a:srgbClr val="16252A"/>
                </a:solidFill>
                <a:latin typeface="Calibri" pitchFamily="34" charset="0"/>
                <a:ea typeface="Calibri" pitchFamily="34" charset="-122"/>
                <a:cs typeface="Calibri" pitchFamily="34" charset="-120"/>
              </a:rPr>
              <a:t>Over the limit: HTTP 429 with a Retry-After header and a plain-language message — the app shows it as-is.</a:t>
            </a:r>
            <a:endParaRPr lang="en-US" sz="1250" dirty="0"/>
          </a:p>
          <a:p>
            <a:pPr marL="342900" indent="-342900">
              <a:spcAft>
                <a:spcPts val="1000"/>
              </a:spcAft>
              <a:buSzPct val="100000"/>
              <a:buChar char="●"/>
            </a:pPr>
            <a:r>
              <a:rPr lang="en-US" sz="1250" dirty="0">
                <a:solidFill>
                  <a:srgbClr val="16252A"/>
                </a:solidFill>
                <a:latin typeface="Calibri" pitchFamily="34" charset="0"/>
                <a:ea typeface="Calibri" pitchFamily="34" charset="-122"/>
                <a:cs typeface="Calibri" pitchFamily="34" charset="-120"/>
              </a:rPr>
              <a:t>If Redis is briefly unreachable, the per-user check is skipped rather than blocking the whole site — nginx's per-IP limit still applies underneath.</a:t>
            </a:r>
            <a:endParaRPr lang="en-US" sz="1250" dirty="0"/>
          </a:p>
        </p:txBody>
      </p:sp>
      <p:sp>
        <p:nvSpPr>
          <p:cNvPr id="34" name="Text 2"/>
          <p:cNvSpPr/>
          <p:nvPr>
            <p:ph idx="103" type="body" hasCustomPrompt="1"/>
          </p:nvPr>
        </p:nvSpPr>
        <p:spPr>
          <a:xfrm>
            <a:off x="548640" y="1188720"/>
            <a:ext cx="11064240" cy="521208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822960" y="1965960"/>
            <a:ext cx="3657600" cy="1280160"/>
          </a:xfrm>
          <a:prstGeom prst="rect">
            <a:avLst/>
          </a:prstGeom>
          <a:noFill/>
          <a:ln/>
        </p:spPr>
        <p:txBody>
          <a:bodyPr wrap="square" lIns="0" tIns="0" rIns="0" bIns="0" rtlCol="0" anchor="ctr"/>
          <a:lstStyle/>
          <a:p>
            <a:pPr indent="0" marL="0">
              <a:buNone/>
            </a:pPr>
            <a:r>
              <a:rPr lang="en-US" sz="7200" b="1" dirty="0">
                <a:solidFill>
                  <a:srgbClr val="C98A3B"/>
                </a:solidFill>
                <a:latin typeface="Cambria" pitchFamily="34" charset="0"/>
                <a:ea typeface="Cambria" pitchFamily="34" charset="-122"/>
                <a:cs typeface="Cambria" pitchFamily="34" charset="-120"/>
              </a:rPr>
              <a:t>08</a:t>
            </a:r>
            <a:endParaRPr lang="en-US" sz="7200" dirty="0"/>
          </a:p>
        </p:txBody>
      </p:sp>
      <p:sp>
        <p:nvSpPr>
          <p:cNvPr id="3" name="Text 2"/>
          <p:cNvSpPr/>
          <p:nvPr>
            <p:ph idx="102" type="title" hasCustomPrompt="1"/>
          </p:nvPr>
        </p:nvSpPr>
        <p:spPr>
          <a:xfrm>
            <a:off x="822960" y="3246120"/>
            <a:ext cx="10241280" cy="1188720"/>
          </a:xfrm>
          <a:prstGeom prst="rect">
            <a:avLst/>
          </a:prstGeom>
          <a:noFill/>
          <a:ln/>
        </p:spPr>
        <p:txBody>
          <a:bodyPr wrap="square" rtlCol="0" anchor="t"/>
          <a:lstStyle/>
          <a:p>
            <a:pPr algn="l" indent="0" marL="0">
              <a:buNone/>
            </a:pPr>
            <a:r>
              <a:rPr lang="en-US" sz="3400" b="1" dirty="0">
                <a:solidFill>
                  <a:srgbClr val="FFFFFF"/>
                </a:solidFill>
                <a:latin typeface="Cambria" pitchFamily="34" charset="0"/>
                <a:ea typeface="Cambria" pitchFamily="34" charset="-122"/>
                <a:cs typeface="Cambria" pitchFamily="34" charset="-120"/>
              </a:rPr>
              <a:t>Testing &amp; Quality</a:t>
            </a:r>
            <a:endParaRPr lang="en-US" sz="3400" dirty="0"/>
          </a:p>
        </p:txBody>
      </p:sp>
      <p:sp>
        <p:nvSpPr>
          <p:cNvPr id="4" name="Text 2"/>
          <p:cNvSpPr/>
          <p:nvPr>
            <p:ph idx="103" type="body" hasCustomPrompt="1"/>
          </p:nvPr>
        </p:nvSpPr>
        <p:spPr>
          <a:xfrm>
            <a:off x="822960" y="4343400"/>
            <a:ext cx="9692640" cy="1005840"/>
          </a:xfrm>
          <a:prstGeom prst="rect">
            <a:avLst/>
          </a:prstGeom>
          <a:noFill/>
          <a:ln/>
        </p:spPr>
        <p:txBody>
          <a:bodyPr wrap="square" rtlCol="0" anchor="t"/>
          <a:lstStyle/>
          <a:p>
            <a:pPr algn="l" indent="0" marL="0">
              <a:buNone/>
            </a:pPr>
            <a:r>
              <a:rPr lang="en-US" sz="1600" dirty="0">
                <a:solidFill>
                  <a:srgbClr val="F6EBDD"/>
                </a:solidFill>
                <a:latin typeface="Calibri" pitchFamily="34" charset="0"/>
                <a:ea typeface="Calibri" pitchFamily="34" charset="-122"/>
                <a:cs typeface="Calibri" pitchFamily="34" charset="-120"/>
              </a:rPr>
              <a:t>How we know all of this actually works — from unit tests up to a real browser against the real deployment.</a:t>
            </a:r>
            <a:endParaRPr lang="en-US" sz="16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Testing Pyramid — Five Layers, One Pipeline</a:t>
            </a:r>
            <a:endParaRPr lang="en-US" sz="2600" dirty="0"/>
          </a:p>
        </p:txBody>
      </p:sp>
      <p:sp>
        <p:nvSpPr>
          <p:cNvPr id="3" name="Shape 1"/>
          <p:cNvSpPr/>
          <p:nvPr/>
        </p:nvSpPr>
        <p:spPr>
          <a:xfrm>
            <a:off x="548640" y="1234440"/>
            <a:ext cx="10881360" cy="932688"/>
          </a:xfrm>
          <a:prstGeom prst="roundRect">
            <a:avLst>
              <a:gd name="adj" fmla="val 6863"/>
            </a:avLst>
          </a:prstGeom>
          <a:solidFill>
            <a:srgbClr val="EDF4F3"/>
          </a:solidFill>
          <a:ln/>
        </p:spPr>
      </p:sp>
      <p:sp>
        <p:nvSpPr>
          <p:cNvPr id="4" name="Shape 2"/>
          <p:cNvSpPr/>
          <p:nvPr/>
        </p:nvSpPr>
        <p:spPr>
          <a:xfrm>
            <a:off x="548640" y="1234440"/>
            <a:ext cx="109728" cy="932688"/>
          </a:xfrm>
          <a:prstGeom prst="roundRect">
            <a:avLst/>
          </a:prstGeom>
          <a:solidFill>
            <a:srgbClr val="1F5F5B"/>
          </a:solidFill>
          <a:ln/>
        </p:spPr>
      </p:sp>
      <p:sp>
        <p:nvSpPr>
          <p:cNvPr id="5" name="Text 3"/>
          <p:cNvSpPr txBox="1"/>
          <p:nvPr/>
        </p:nvSpPr>
        <p:spPr>
          <a:xfrm>
            <a:off x="868680" y="1234440"/>
            <a:ext cx="1600200" cy="932688"/>
          </a:xfrm>
          <a:prstGeom prst="rect">
            <a:avLst/>
          </a:prstGeom>
          <a:noFill/>
          <a:ln/>
        </p:spPr>
        <p:txBody>
          <a:bodyPr wrap="square" lIns="0" tIns="0" rIns="0" bIns="0" rtlCol="0" anchor="ctr"/>
          <a:lstStyle/>
          <a:p>
            <a:pPr algn="ctr" indent="0" marL="0">
              <a:buNone/>
            </a:pPr>
            <a:r>
              <a:rPr lang="en-US" sz="2200" b="1" dirty="0">
                <a:solidFill>
                  <a:srgbClr val="1F5F5B"/>
                </a:solidFill>
                <a:latin typeface="Cambria" pitchFamily="34" charset="0"/>
                <a:ea typeface="Cambria" pitchFamily="34" charset="-122"/>
                <a:cs typeface="Cambria" pitchFamily="34" charset="-120"/>
              </a:rPr>
              <a:t>239</a:t>
            </a:r>
            <a:endParaRPr lang="en-US" sz="2200" dirty="0"/>
          </a:p>
        </p:txBody>
      </p:sp>
      <p:sp>
        <p:nvSpPr>
          <p:cNvPr id="6" name="Text 4"/>
          <p:cNvSpPr txBox="1"/>
          <p:nvPr/>
        </p:nvSpPr>
        <p:spPr>
          <a:xfrm>
            <a:off x="2606040" y="1298448"/>
            <a:ext cx="3566160" cy="804672"/>
          </a:xfrm>
          <a:prstGeom prst="rect">
            <a:avLst/>
          </a:prstGeom>
          <a:noFill/>
          <a:ln/>
        </p:spPr>
        <p:txBody>
          <a:bodyPr wrap="square" lIns="0" tIns="0" rIns="0" bIns="0" rtlCol="0" anchor="ctr"/>
          <a:lstStyle/>
          <a:p>
            <a:pPr indent="0" marL="0">
              <a:buNone/>
            </a:pPr>
            <a:r>
              <a:rPr lang="en-US" sz="1300" b="1" dirty="0">
                <a:solidFill>
                  <a:srgbClr val="16252A"/>
                </a:solidFill>
                <a:latin typeface="Calibri" pitchFamily="34" charset="0"/>
                <a:ea typeface="Calibri" pitchFamily="34" charset="-122"/>
                <a:cs typeface="Calibri" pitchFamily="34" charset="-120"/>
              </a:rPr>
              <a:t>Unit &amp; Integration Tests</a:t>
            </a:r>
            <a:endParaRPr lang="en-US" sz="1300" dirty="0"/>
          </a:p>
        </p:txBody>
      </p:sp>
      <p:sp>
        <p:nvSpPr>
          <p:cNvPr id="7" name="Text 5"/>
          <p:cNvSpPr txBox="1"/>
          <p:nvPr/>
        </p:nvSpPr>
        <p:spPr>
          <a:xfrm>
            <a:off x="6263640" y="1298448"/>
            <a:ext cx="5029200" cy="804672"/>
          </a:xfrm>
          <a:prstGeom prst="rect">
            <a:avLst/>
          </a:prstGeom>
          <a:noFill/>
          <a:ln/>
        </p:spPr>
        <p:txBody>
          <a:bodyPr wrap="square" lIns="0" tIns="0" rIns="0" bIns="0" rtlCol="0" anchor="ctr"/>
          <a:lstStyle/>
          <a:p>
            <a:pPr indent="0" marL="0">
              <a:buNone/>
            </a:pPr>
            <a:r>
              <a:rPr lang="en-US" sz="1050" dirty="0">
                <a:solidFill>
                  <a:srgbClr val="3B4F56"/>
                </a:solidFill>
                <a:latin typeface="Calibri" pitchFamily="34" charset="0"/>
                <a:ea typeface="Calibri" pitchFamily="34" charset="-122"/>
                <a:cs typeface="Calibri" pitchFamily="34" charset="-120"/>
              </a:rPr>
              <a:t>JUnit 5, MockMvc, H2, Testcontainers Redis — every service, every single Jenkins build</a:t>
            </a:r>
            <a:endParaRPr lang="en-US" sz="1050" dirty="0"/>
          </a:p>
        </p:txBody>
      </p:sp>
      <p:sp>
        <p:nvSpPr>
          <p:cNvPr id="8" name="Shape 6"/>
          <p:cNvSpPr/>
          <p:nvPr/>
        </p:nvSpPr>
        <p:spPr>
          <a:xfrm>
            <a:off x="548640" y="2240280"/>
            <a:ext cx="10881360" cy="932688"/>
          </a:xfrm>
          <a:prstGeom prst="roundRect">
            <a:avLst>
              <a:gd name="adj" fmla="val 6863"/>
            </a:avLst>
          </a:prstGeom>
          <a:solidFill>
            <a:srgbClr val="EDF4F3"/>
          </a:solidFill>
          <a:ln/>
        </p:spPr>
      </p:sp>
      <p:sp>
        <p:nvSpPr>
          <p:cNvPr id="9" name="Shape 7"/>
          <p:cNvSpPr/>
          <p:nvPr/>
        </p:nvSpPr>
        <p:spPr>
          <a:xfrm>
            <a:off x="548640" y="2240280"/>
            <a:ext cx="109728" cy="932688"/>
          </a:xfrm>
          <a:prstGeom prst="roundRect">
            <a:avLst/>
          </a:prstGeom>
          <a:solidFill>
            <a:srgbClr val="1F5F5B"/>
          </a:solidFill>
          <a:ln/>
        </p:spPr>
      </p:sp>
      <p:sp>
        <p:nvSpPr>
          <p:cNvPr id="10" name="Text 8"/>
          <p:cNvSpPr txBox="1"/>
          <p:nvPr/>
        </p:nvSpPr>
        <p:spPr>
          <a:xfrm>
            <a:off x="868680" y="2240280"/>
            <a:ext cx="1600200" cy="932688"/>
          </a:xfrm>
          <a:prstGeom prst="rect">
            <a:avLst/>
          </a:prstGeom>
          <a:noFill/>
          <a:ln/>
        </p:spPr>
        <p:txBody>
          <a:bodyPr wrap="square" lIns="0" tIns="0" rIns="0" bIns="0" rtlCol="0" anchor="ctr"/>
          <a:lstStyle/>
          <a:p>
            <a:pPr algn="ctr" indent="0" marL="0">
              <a:buNone/>
            </a:pPr>
            <a:r>
              <a:rPr lang="en-US" sz="2200" b="1" dirty="0">
                <a:solidFill>
                  <a:srgbClr val="1F5F5B"/>
                </a:solidFill>
                <a:latin typeface="Cambria" pitchFamily="34" charset="0"/>
                <a:ea typeface="Cambria" pitchFamily="34" charset="-122"/>
                <a:cs typeface="Cambria" pitchFamily="34" charset="-120"/>
              </a:rPr>
              <a:t>66</a:t>
            </a:r>
            <a:endParaRPr lang="en-US" sz="2200" dirty="0"/>
          </a:p>
        </p:txBody>
      </p:sp>
      <p:sp>
        <p:nvSpPr>
          <p:cNvPr id="11" name="Text 9"/>
          <p:cNvSpPr txBox="1"/>
          <p:nvPr/>
        </p:nvSpPr>
        <p:spPr>
          <a:xfrm>
            <a:off x="2606040" y="2304288"/>
            <a:ext cx="3566160" cy="804672"/>
          </a:xfrm>
          <a:prstGeom prst="rect">
            <a:avLst/>
          </a:prstGeom>
          <a:noFill/>
          <a:ln/>
        </p:spPr>
        <p:txBody>
          <a:bodyPr wrap="square" lIns="0" tIns="0" rIns="0" bIns="0" rtlCol="0" anchor="ctr"/>
          <a:lstStyle/>
          <a:p>
            <a:pPr indent="0" marL="0">
              <a:buNone/>
            </a:pPr>
            <a:r>
              <a:rPr lang="en-US" sz="1300" b="1" dirty="0">
                <a:solidFill>
                  <a:srgbClr val="16252A"/>
                </a:solidFill>
                <a:latin typeface="Calibri" pitchFamily="34" charset="0"/>
                <a:ea typeface="Calibri" pitchFamily="34" charset="-122"/>
                <a:cs typeface="Calibri" pitchFamily="34" charset="-120"/>
              </a:rPr>
              <a:t>System / End-to-End Steps</a:t>
            </a:r>
            <a:endParaRPr lang="en-US" sz="1300" dirty="0"/>
          </a:p>
        </p:txBody>
      </p:sp>
      <p:sp>
        <p:nvSpPr>
          <p:cNvPr id="12" name="Text 10"/>
          <p:cNvSpPr txBox="1"/>
          <p:nvPr/>
        </p:nvSpPr>
        <p:spPr>
          <a:xfrm>
            <a:off x="6263640" y="2304288"/>
            <a:ext cx="5029200" cy="804672"/>
          </a:xfrm>
          <a:prstGeom prst="rect">
            <a:avLst/>
          </a:prstGeom>
          <a:noFill/>
          <a:ln/>
        </p:spPr>
        <p:txBody>
          <a:bodyPr wrap="square" lIns="0" tIns="0" rIns="0" bIns="0" rtlCol="0" anchor="ctr"/>
          <a:lstStyle/>
          <a:p>
            <a:pPr indent="0" marL="0">
              <a:buNone/>
            </a:pPr>
            <a:r>
              <a:rPr lang="en-US" sz="1050" dirty="0">
                <a:solidFill>
                  <a:srgbClr val="3B4F56"/>
                </a:solidFill>
                <a:latin typeface="Calibri" pitchFamily="34" charset="0"/>
                <a:ea typeface="Calibri" pitchFamily="34" charset="-122"/>
                <a:cs typeface="Calibri" pitchFamily="34" charset="-120"/>
              </a:rPr>
              <a:t>system_test.py drives the real stack through the gateway: Keycloak login → enroll → grade → notify → report</a:t>
            </a:r>
            <a:endParaRPr lang="en-US" sz="1050" dirty="0"/>
          </a:p>
        </p:txBody>
      </p:sp>
      <p:sp>
        <p:nvSpPr>
          <p:cNvPr id="13" name="Shape 11"/>
          <p:cNvSpPr/>
          <p:nvPr/>
        </p:nvSpPr>
        <p:spPr>
          <a:xfrm>
            <a:off x="548640" y="3246120"/>
            <a:ext cx="10881360" cy="932688"/>
          </a:xfrm>
          <a:prstGeom prst="roundRect">
            <a:avLst>
              <a:gd name="adj" fmla="val 6863"/>
            </a:avLst>
          </a:prstGeom>
          <a:solidFill>
            <a:srgbClr val="EDF4F3"/>
          </a:solidFill>
          <a:ln/>
        </p:spPr>
      </p:sp>
      <p:sp>
        <p:nvSpPr>
          <p:cNvPr id="14" name="Shape 12"/>
          <p:cNvSpPr/>
          <p:nvPr/>
        </p:nvSpPr>
        <p:spPr>
          <a:xfrm>
            <a:off x="548640" y="3246120"/>
            <a:ext cx="109728" cy="932688"/>
          </a:xfrm>
          <a:prstGeom prst="roundRect">
            <a:avLst/>
          </a:prstGeom>
          <a:solidFill>
            <a:srgbClr val="2F7D77"/>
          </a:solidFill>
          <a:ln/>
        </p:spPr>
      </p:sp>
      <p:sp>
        <p:nvSpPr>
          <p:cNvPr id="15" name="Text 13"/>
          <p:cNvSpPr txBox="1"/>
          <p:nvPr/>
        </p:nvSpPr>
        <p:spPr>
          <a:xfrm>
            <a:off x="868680" y="3246120"/>
            <a:ext cx="1600200" cy="932688"/>
          </a:xfrm>
          <a:prstGeom prst="rect">
            <a:avLst/>
          </a:prstGeom>
          <a:noFill/>
          <a:ln/>
        </p:spPr>
        <p:txBody>
          <a:bodyPr wrap="square" lIns="0" tIns="0" rIns="0" bIns="0" rtlCol="0" anchor="ctr"/>
          <a:lstStyle/>
          <a:p>
            <a:pPr algn="ctr" indent="0" marL="0">
              <a:buNone/>
            </a:pPr>
            <a:r>
              <a:rPr lang="en-US" sz="2200" b="1" dirty="0">
                <a:solidFill>
                  <a:srgbClr val="2F7D77"/>
                </a:solidFill>
                <a:latin typeface="Cambria" pitchFamily="34" charset="0"/>
                <a:ea typeface="Cambria" pitchFamily="34" charset="-122"/>
                <a:cs typeface="Cambria" pitchFamily="34" charset="-120"/>
              </a:rPr>
              <a:t>13</a:t>
            </a:r>
            <a:endParaRPr lang="en-US" sz="2200" dirty="0"/>
          </a:p>
        </p:txBody>
      </p:sp>
      <p:sp>
        <p:nvSpPr>
          <p:cNvPr id="16" name="Text 14"/>
          <p:cNvSpPr txBox="1"/>
          <p:nvPr/>
        </p:nvSpPr>
        <p:spPr>
          <a:xfrm>
            <a:off x="2606040" y="3310128"/>
            <a:ext cx="3566160" cy="804672"/>
          </a:xfrm>
          <a:prstGeom prst="rect">
            <a:avLst/>
          </a:prstGeom>
          <a:noFill/>
          <a:ln/>
        </p:spPr>
        <p:txBody>
          <a:bodyPr wrap="square" lIns="0" tIns="0" rIns="0" bIns="0" rtlCol="0" anchor="ctr"/>
          <a:lstStyle/>
          <a:p>
            <a:pPr indent="0" marL="0">
              <a:buNone/>
            </a:pPr>
            <a:r>
              <a:rPr lang="en-US" sz="1300" b="1" dirty="0">
                <a:solidFill>
                  <a:srgbClr val="16252A"/>
                </a:solidFill>
                <a:latin typeface="Calibri" pitchFamily="34" charset="0"/>
                <a:ea typeface="Calibri" pitchFamily="34" charset="-122"/>
                <a:cs typeface="Calibri" pitchFamily="34" charset="-120"/>
              </a:rPr>
              <a:t>Edge &amp; Container Checks</a:t>
            </a:r>
            <a:endParaRPr lang="en-US" sz="1300" dirty="0"/>
          </a:p>
        </p:txBody>
      </p:sp>
      <p:sp>
        <p:nvSpPr>
          <p:cNvPr id="17" name="Text 15"/>
          <p:cNvSpPr txBox="1"/>
          <p:nvPr/>
        </p:nvSpPr>
        <p:spPr>
          <a:xfrm>
            <a:off x="6263640" y="3310128"/>
            <a:ext cx="5029200" cy="804672"/>
          </a:xfrm>
          <a:prstGeom prst="rect">
            <a:avLst/>
          </a:prstGeom>
          <a:noFill/>
          <a:ln/>
        </p:spPr>
        <p:txBody>
          <a:bodyPr wrap="square" lIns="0" tIns="0" rIns="0" bIns="0" rtlCol="0" anchor="ctr"/>
          <a:lstStyle/>
          <a:p>
            <a:pPr indent="0" marL="0">
              <a:buNone/>
            </a:pPr>
            <a:r>
              <a:rPr lang="en-US" sz="1050" dirty="0">
                <a:solidFill>
                  <a:srgbClr val="3B4F56"/>
                </a:solidFill>
                <a:latin typeface="Calibri" pitchFamily="34" charset="0"/>
                <a:ea typeface="Calibri" pitchFamily="34" charset="-122"/>
                <a:cs typeface="Calibri" pitchFamily="34" charset="-120"/>
              </a:rPr>
              <a:t>Headers, Keycloak lockdown, load balancing, failover, rate limits, network isolation, container hardening</a:t>
            </a:r>
            <a:endParaRPr lang="en-US" sz="1050" dirty="0"/>
          </a:p>
        </p:txBody>
      </p:sp>
      <p:sp>
        <p:nvSpPr>
          <p:cNvPr id="18" name="Shape 16"/>
          <p:cNvSpPr/>
          <p:nvPr/>
        </p:nvSpPr>
        <p:spPr>
          <a:xfrm>
            <a:off x="548640" y="4251960"/>
            <a:ext cx="10881360" cy="932688"/>
          </a:xfrm>
          <a:prstGeom prst="roundRect">
            <a:avLst>
              <a:gd name="adj" fmla="val 6863"/>
            </a:avLst>
          </a:prstGeom>
          <a:solidFill>
            <a:srgbClr val="EDF4F3"/>
          </a:solidFill>
          <a:ln/>
        </p:spPr>
      </p:sp>
      <p:sp>
        <p:nvSpPr>
          <p:cNvPr id="19" name="Shape 17"/>
          <p:cNvSpPr/>
          <p:nvPr/>
        </p:nvSpPr>
        <p:spPr>
          <a:xfrm>
            <a:off x="548640" y="4251960"/>
            <a:ext cx="109728" cy="932688"/>
          </a:xfrm>
          <a:prstGeom prst="roundRect">
            <a:avLst/>
          </a:prstGeom>
          <a:solidFill>
            <a:srgbClr val="2F7D77"/>
          </a:solidFill>
          <a:ln/>
        </p:spPr>
      </p:sp>
      <p:sp>
        <p:nvSpPr>
          <p:cNvPr id="20" name="Text 18"/>
          <p:cNvSpPr txBox="1"/>
          <p:nvPr/>
        </p:nvSpPr>
        <p:spPr>
          <a:xfrm>
            <a:off x="868680" y="4251960"/>
            <a:ext cx="1600200" cy="932688"/>
          </a:xfrm>
          <a:prstGeom prst="rect">
            <a:avLst/>
          </a:prstGeom>
          <a:noFill/>
          <a:ln/>
        </p:spPr>
        <p:txBody>
          <a:bodyPr wrap="square" lIns="0" tIns="0" rIns="0" bIns="0" rtlCol="0" anchor="ctr"/>
          <a:lstStyle/>
          <a:p>
            <a:pPr algn="ctr" indent="0" marL="0">
              <a:buNone/>
            </a:pPr>
            <a:r>
              <a:rPr lang="en-US" sz="2200" b="1" dirty="0">
                <a:solidFill>
                  <a:srgbClr val="2F7D77"/>
                </a:solidFill>
                <a:latin typeface="Cambria" pitchFamily="34" charset="0"/>
                <a:ea typeface="Cambria" pitchFamily="34" charset="-122"/>
                <a:cs typeface="Cambria" pitchFamily="34" charset="-120"/>
              </a:rPr>
              <a:t>5</a:t>
            </a:r>
            <a:endParaRPr lang="en-US" sz="2200" dirty="0"/>
          </a:p>
        </p:txBody>
      </p:sp>
      <p:sp>
        <p:nvSpPr>
          <p:cNvPr id="21" name="Text 19"/>
          <p:cNvSpPr txBox="1"/>
          <p:nvPr/>
        </p:nvSpPr>
        <p:spPr>
          <a:xfrm>
            <a:off x="2606040" y="4315968"/>
            <a:ext cx="3566160" cy="804672"/>
          </a:xfrm>
          <a:prstGeom prst="rect">
            <a:avLst/>
          </a:prstGeom>
          <a:noFill/>
          <a:ln/>
        </p:spPr>
        <p:txBody>
          <a:bodyPr wrap="square" lIns="0" tIns="0" rIns="0" bIns="0" rtlCol="0" anchor="ctr"/>
          <a:lstStyle/>
          <a:p>
            <a:pPr indent="0" marL="0">
              <a:buNone/>
            </a:pPr>
            <a:r>
              <a:rPr lang="en-US" sz="1300" b="1" dirty="0">
                <a:solidFill>
                  <a:srgbClr val="16252A"/>
                </a:solidFill>
                <a:latin typeface="Calibri" pitchFamily="34" charset="0"/>
                <a:ea typeface="Calibri" pitchFamily="34" charset="-122"/>
                <a:cs typeface="Calibri" pitchFamily="34" charset="-120"/>
              </a:rPr>
              <a:t>Real Browser Checks</a:t>
            </a:r>
            <a:endParaRPr lang="en-US" sz="1300" dirty="0"/>
          </a:p>
        </p:txBody>
      </p:sp>
      <p:sp>
        <p:nvSpPr>
          <p:cNvPr id="22" name="Text 20"/>
          <p:cNvSpPr txBox="1"/>
          <p:nvPr/>
        </p:nvSpPr>
        <p:spPr>
          <a:xfrm>
            <a:off x="6263640" y="4315968"/>
            <a:ext cx="5029200" cy="804672"/>
          </a:xfrm>
          <a:prstGeom prst="rect">
            <a:avLst/>
          </a:prstGeom>
          <a:noFill/>
          <a:ln/>
        </p:spPr>
        <p:txBody>
          <a:bodyPr wrap="square" lIns="0" tIns="0" rIns="0" bIns="0" rtlCol="0" anchor="ctr"/>
          <a:lstStyle/>
          <a:p>
            <a:pPr indent="0" marL="0">
              <a:buNone/>
            </a:pPr>
            <a:r>
              <a:rPr lang="en-US" sz="1050" dirty="0">
                <a:solidFill>
                  <a:srgbClr val="3B4F56"/>
                </a:solidFill>
                <a:latin typeface="Calibri" pitchFamily="34" charset="0"/>
                <a:ea typeface="Calibri" pitchFamily="34" charset="-122"/>
                <a:cs typeface="Calibri" pitchFamily="34" charset="-120"/>
              </a:rPr>
              <a:t>Headless Chromium: sign-in, silent SSO, zero Content-Security-Policy violations</a:t>
            </a:r>
            <a:endParaRPr lang="en-US" sz="1050" dirty="0"/>
          </a:p>
        </p:txBody>
      </p:sp>
      <p:sp>
        <p:nvSpPr>
          <p:cNvPr id="23" name="Shape 21"/>
          <p:cNvSpPr/>
          <p:nvPr/>
        </p:nvSpPr>
        <p:spPr>
          <a:xfrm>
            <a:off x="548640" y="5257800"/>
            <a:ext cx="10881360" cy="932688"/>
          </a:xfrm>
          <a:prstGeom prst="roundRect">
            <a:avLst>
              <a:gd name="adj" fmla="val 6863"/>
            </a:avLst>
          </a:prstGeom>
          <a:solidFill>
            <a:srgbClr val="EDF4F3"/>
          </a:solidFill>
          <a:ln/>
        </p:spPr>
      </p:sp>
      <p:sp>
        <p:nvSpPr>
          <p:cNvPr id="24" name="Shape 22"/>
          <p:cNvSpPr/>
          <p:nvPr/>
        </p:nvSpPr>
        <p:spPr>
          <a:xfrm>
            <a:off x="548640" y="5257800"/>
            <a:ext cx="109728" cy="932688"/>
          </a:xfrm>
          <a:prstGeom prst="roundRect">
            <a:avLst/>
          </a:prstGeom>
          <a:solidFill>
            <a:srgbClr val="C98A3B"/>
          </a:solidFill>
          <a:ln/>
        </p:spPr>
      </p:sp>
      <p:sp>
        <p:nvSpPr>
          <p:cNvPr id="25" name="Text 23"/>
          <p:cNvSpPr txBox="1"/>
          <p:nvPr/>
        </p:nvSpPr>
        <p:spPr>
          <a:xfrm>
            <a:off x="868680" y="5257800"/>
            <a:ext cx="1600200" cy="932688"/>
          </a:xfrm>
          <a:prstGeom prst="rect">
            <a:avLst/>
          </a:prstGeom>
          <a:noFill/>
          <a:ln/>
        </p:spPr>
        <p:txBody>
          <a:bodyPr wrap="square" lIns="0" tIns="0" rIns="0" bIns="0" rtlCol="0" anchor="ctr"/>
          <a:lstStyle/>
          <a:p>
            <a:pPr algn="ctr" indent="0" marL="0">
              <a:buNone/>
            </a:pPr>
            <a:r>
              <a:rPr lang="en-US" sz="2200" b="1" dirty="0">
                <a:solidFill>
                  <a:srgbClr val="C98A3B"/>
                </a:solidFill>
                <a:latin typeface="Cambria" pitchFamily="34" charset="0"/>
                <a:ea typeface="Cambria" pitchFamily="34" charset="-122"/>
                <a:cs typeface="Cambria" pitchFamily="34" charset="-120"/>
              </a:rPr>
              <a:t>686/686</a:t>
            </a:r>
            <a:endParaRPr lang="en-US" sz="2200" dirty="0"/>
          </a:p>
        </p:txBody>
      </p:sp>
      <p:sp>
        <p:nvSpPr>
          <p:cNvPr id="26" name="Text 24"/>
          <p:cNvSpPr txBox="1"/>
          <p:nvPr/>
        </p:nvSpPr>
        <p:spPr>
          <a:xfrm>
            <a:off x="2606040" y="5321808"/>
            <a:ext cx="3566160" cy="804672"/>
          </a:xfrm>
          <a:prstGeom prst="rect">
            <a:avLst/>
          </a:prstGeom>
          <a:noFill/>
          <a:ln/>
        </p:spPr>
        <p:txBody>
          <a:bodyPr wrap="square" lIns="0" tIns="0" rIns="0" bIns="0" rtlCol="0" anchor="ctr"/>
          <a:lstStyle/>
          <a:p>
            <a:pPr indent="0" marL="0">
              <a:buNone/>
            </a:pPr>
            <a:r>
              <a:rPr lang="en-US" sz="1300" b="1" dirty="0">
                <a:solidFill>
                  <a:srgbClr val="16252A"/>
                </a:solidFill>
                <a:latin typeface="Calibri" pitchFamily="34" charset="0"/>
                <a:ea typeface="Calibri" pitchFamily="34" charset="-122"/>
                <a:cs typeface="Calibri" pitchFamily="34" charset="-120"/>
              </a:rPr>
              <a:t>Operational Proof</a:t>
            </a:r>
            <a:endParaRPr lang="en-US" sz="1300" dirty="0"/>
          </a:p>
        </p:txBody>
      </p:sp>
      <p:sp>
        <p:nvSpPr>
          <p:cNvPr id="27" name="Text 25"/>
          <p:cNvSpPr txBox="1"/>
          <p:nvPr/>
        </p:nvSpPr>
        <p:spPr>
          <a:xfrm>
            <a:off x="6263640" y="5321808"/>
            <a:ext cx="5029200" cy="804672"/>
          </a:xfrm>
          <a:prstGeom prst="rect">
            <a:avLst/>
          </a:prstGeom>
          <a:noFill/>
          <a:ln/>
        </p:spPr>
        <p:txBody>
          <a:bodyPr wrap="square" lIns="0" tIns="0" rIns="0" bIns="0" rtlCol="0" anchor="ctr"/>
          <a:lstStyle/>
          <a:p>
            <a:pPr indent="0" marL="0">
              <a:buNone/>
            </a:pPr>
            <a:r>
              <a:rPr lang="en-US" sz="1050" dirty="0">
                <a:solidFill>
                  <a:srgbClr val="3B4F56"/>
                </a:solidFill>
                <a:latin typeface="Calibri" pitchFamily="34" charset="0"/>
                <a:ea typeface="Calibri" pitchFamily="34" charset="-122"/>
                <a:cs typeface="Calibri" pitchFamily="34" charset="-120"/>
              </a:rPr>
              <a:t>Requests that succeeded during a live rolling redeploy — zero dropped</a:t>
            </a:r>
            <a:endParaRPr lang="en-US" sz="1050" dirty="0"/>
          </a:p>
        </p:txBody>
      </p:sp>
      <p:sp>
        <p:nvSpPr>
          <p:cNvPr id="28" name="Text 26"/>
          <p:cNvSpPr txBox="1"/>
          <p:nvPr/>
        </p:nvSpPr>
        <p:spPr>
          <a:xfrm>
            <a:off x="548640" y="6309360"/>
            <a:ext cx="10881360" cy="320040"/>
          </a:xfrm>
          <a:prstGeom prst="rect">
            <a:avLst/>
          </a:prstGeom>
          <a:noFill/>
          <a:ln/>
        </p:spPr>
        <p:txBody>
          <a:bodyPr wrap="square" lIns="0" tIns="0" rIns="0" bIns="0" rtlCol="0" anchor="ctr"/>
          <a:lstStyle/>
          <a:p>
            <a:pPr indent="0" marL="0">
              <a:buNone/>
            </a:pPr>
            <a:r>
              <a:rPr lang="en-US" sz="1100" i="1" dirty="0">
                <a:solidFill>
                  <a:srgbClr val="3B4F56"/>
                </a:solidFill>
                <a:latin typeface="Calibri" pitchFamily="34" charset="0"/>
                <a:ea typeface="Calibri" pitchFamily="34" charset="-122"/>
                <a:cs typeface="Calibri" pitchFamily="34" charset="-120"/>
              </a:rPr>
              <a:t>A dependency &amp; image vulnerability scan (Trivy + npm audit) runs on every single build, independent of this pyramid.</a:t>
            </a:r>
            <a:endParaRPr lang="en-US" sz="1100" dirty="0"/>
          </a:p>
        </p:txBody>
      </p:sp>
      <p:sp>
        <p:nvSpPr>
          <p:cNvPr id="30" name="Text 2"/>
          <p:cNvSpPr/>
          <p:nvPr>
            <p:ph idx="103" type="body" hasCustomPrompt="1"/>
          </p:nvPr>
        </p:nvSpPr>
        <p:spPr>
          <a:xfrm>
            <a:off x="548640" y="1188720"/>
            <a:ext cx="11064240" cy="521208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164592"/>
            <a:ext cx="10607040" cy="640080"/>
          </a:xfrm>
          <a:prstGeom prst="rect">
            <a:avLst/>
          </a:prstGeom>
          <a:noFill/>
          <a:ln/>
        </p:spPr>
        <p:txBody>
          <a:bodyPr wrap="square" rtlCol="0" anchor="ctr"/>
          <a:lstStyle/>
          <a:p>
            <a:pPr algn="l" indent="0" marL="0">
              <a:buNone/>
            </a:pPr>
            <a:r>
              <a:rPr lang="en-US" sz="2600" b="1" dirty="0">
                <a:solidFill>
                  <a:srgbClr val="1F5F5B"/>
                </a:solidFill>
                <a:latin typeface="Cambria" pitchFamily="34" charset="0"/>
                <a:ea typeface="Cambria" pitchFamily="34" charset="-122"/>
                <a:cs typeface="Cambria" pitchFamily="34" charset="-120"/>
              </a:rPr>
              <a:t>Where This Leaves Us</a:t>
            </a:r>
            <a:endParaRPr lang="en-US" sz="2600" dirty="0"/>
          </a:p>
        </p:txBody>
      </p:sp>
      <p:sp>
        <p:nvSpPr>
          <p:cNvPr id="3" name="Shape 1"/>
          <p:cNvSpPr/>
          <p:nvPr/>
        </p:nvSpPr>
        <p:spPr>
          <a:xfrm>
            <a:off x="548640" y="1280160"/>
            <a:ext cx="1783080" cy="1371600"/>
          </a:xfrm>
          <a:prstGeom prst="roundRect">
            <a:avLst>
              <a:gd name="adj" fmla="val 5333"/>
            </a:avLst>
          </a:prstGeom>
          <a:solidFill>
            <a:srgbClr val="EDF4F3"/>
          </a:solidFill>
          <a:ln/>
          <a:effectLst>
            <a:outerShdw sx="100000" sy="100000" kx="0" ky="0" algn="bl" rotWithShape="0" blurRad="50800" dist="25400" dir="5400000">
              <a:srgbClr val="888888">
                <a:alpha val="25000"/>
              </a:srgbClr>
            </a:outerShdw>
          </a:effectLst>
        </p:spPr>
      </p:sp>
      <p:sp>
        <p:nvSpPr>
          <p:cNvPr id="4" name="Text 2"/>
          <p:cNvSpPr txBox="1"/>
          <p:nvPr/>
        </p:nvSpPr>
        <p:spPr>
          <a:xfrm>
            <a:off x="548640" y="1389888"/>
            <a:ext cx="1783080" cy="754380"/>
          </a:xfrm>
          <a:prstGeom prst="rect">
            <a:avLst/>
          </a:prstGeom>
          <a:noFill/>
          <a:ln/>
        </p:spPr>
        <p:txBody>
          <a:bodyPr wrap="square" lIns="0" tIns="0" rIns="0" bIns="0" rtlCol="0" anchor="b"/>
          <a:lstStyle/>
          <a:p>
            <a:pPr algn="ctr" indent="0" marL="0">
              <a:buNone/>
            </a:pPr>
            <a:r>
              <a:rPr lang="en-US" sz="3200" b="1" dirty="0">
                <a:solidFill>
                  <a:srgbClr val="1F5F5B"/>
                </a:solidFill>
                <a:latin typeface="Cambria" pitchFamily="34" charset="0"/>
                <a:ea typeface="Cambria" pitchFamily="34" charset="-122"/>
                <a:cs typeface="Cambria" pitchFamily="34" charset="-120"/>
              </a:rPr>
              <a:t>7</a:t>
            </a:r>
            <a:endParaRPr lang="en-US" sz="3200" dirty="0"/>
          </a:p>
        </p:txBody>
      </p:sp>
      <p:sp>
        <p:nvSpPr>
          <p:cNvPr id="5" name="Text 3"/>
          <p:cNvSpPr txBox="1"/>
          <p:nvPr/>
        </p:nvSpPr>
        <p:spPr>
          <a:xfrm>
            <a:off x="640080" y="2103120"/>
            <a:ext cx="1600200" cy="521208"/>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microservices</a:t>
            </a:r>
            <a:endParaRPr lang="en-US" sz="1100" dirty="0"/>
          </a:p>
        </p:txBody>
      </p:sp>
      <p:sp>
        <p:nvSpPr>
          <p:cNvPr id="6" name="Shape 4"/>
          <p:cNvSpPr/>
          <p:nvPr/>
        </p:nvSpPr>
        <p:spPr>
          <a:xfrm>
            <a:off x="2404872" y="1280160"/>
            <a:ext cx="1783080" cy="1371600"/>
          </a:xfrm>
          <a:prstGeom prst="roundRect">
            <a:avLst>
              <a:gd name="adj" fmla="val 5333"/>
            </a:avLst>
          </a:prstGeom>
          <a:solidFill>
            <a:srgbClr val="EDF4F3"/>
          </a:solidFill>
          <a:ln/>
          <a:effectLst>
            <a:outerShdw sx="100000" sy="100000" kx="0" ky="0" algn="bl" rotWithShape="0" blurRad="50800" dist="25400" dir="5400000">
              <a:srgbClr val="888888">
                <a:alpha val="25000"/>
              </a:srgbClr>
            </a:outerShdw>
          </a:effectLst>
        </p:spPr>
      </p:sp>
      <p:sp>
        <p:nvSpPr>
          <p:cNvPr id="7" name="Text 5"/>
          <p:cNvSpPr txBox="1"/>
          <p:nvPr/>
        </p:nvSpPr>
        <p:spPr>
          <a:xfrm>
            <a:off x="2404872" y="1389888"/>
            <a:ext cx="1783080" cy="754380"/>
          </a:xfrm>
          <a:prstGeom prst="rect">
            <a:avLst/>
          </a:prstGeom>
          <a:noFill/>
          <a:ln/>
        </p:spPr>
        <p:txBody>
          <a:bodyPr wrap="square" lIns="0" tIns="0" rIns="0" bIns="0" rtlCol="0" anchor="b"/>
          <a:lstStyle/>
          <a:p>
            <a:pPr algn="ctr" indent="0" marL="0">
              <a:buNone/>
            </a:pPr>
            <a:r>
              <a:rPr lang="en-US" sz="3200" b="1" dirty="0">
                <a:solidFill>
                  <a:srgbClr val="1F5F5B"/>
                </a:solidFill>
                <a:latin typeface="Cambria" pitchFamily="34" charset="0"/>
                <a:ea typeface="Cambria" pitchFamily="34" charset="-122"/>
                <a:cs typeface="Cambria" pitchFamily="34" charset="-120"/>
              </a:rPr>
              <a:t>8</a:t>
            </a:r>
            <a:endParaRPr lang="en-US" sz="3200" dirty="0"/>
          </a:p>
        </p:txBody>
      </p:sp>
      <p:sp>
        <p:nvSpPr>
          <p:cNvPr id="8" name="Text 6"/>
          <p:cNvSpPr txBox="1"/>
          <p:nvPr/>
        </p:nvSpPr>
        <p:spPr>
          <a:xfrm>
            <a:off x="2496312" y="2103120"/>
            <a:ext cx="1600200" cy="521208"/>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database schemas</a:t>
            </a:r>
            <a:endParaRPr lang="en-US" sz="1100" dirty="0"/>
          </a:p>
        </p:txBody>
      </p:sp>
      <p:sp>
        <p:nvSpPr>
          <p:cNvPr id="9" name="Shape 7"/>
          <p:cNvSpPr/>
          <p:nvPr/>
        </p:nvSpPr>
        <p:spPr>
          <a:xfrm>
            <a:off x="4261104" y="1280160"/>
            <a:ext cx="1783080" cy="1371600"/>
          </a:xfrm>
          <a:prstGeom prst="roundRect">
            <a:avLst>
              <a:gd name="adj" fmla="val 5333"/>
            </a:avLst>
          </a:prstGeom>
          <a:solidFill>
            <a:srgbClr val="EDF4F3"/>
          </a:solidFill>
          <a:ln/>
          <a:effectLst>
            <a:outerShdw sx="100000" sy="100000" kx="0" ky="0" algn="bl" rotWithShape="0" blurRad="50800" dist="25400" dir="5400000">
              <a:srgbClr val="888888">
                <a:alpha val="25000"/>
              </a:srgbClr>
            </a:outerShdw>
          </a:effectLst>
        </p:spPr>
      </p:sp>
      <p:sp>
        <p:nvSpPr>
          <p:cNvPr id="10" name="Text 8"/>
          <p:cNvSpPr txBox="1"/>
          <p:nvPr/>
        </p:nvSpPr>
        <p:spPr>
          <a:xfrm>
            <a:off x="4261104" y="1389888"/>
            <a:ext cx="1783080" cy="754380"/>
          </a:xfrm>
          <a:prstGeom prst="rect">
            <a:avLst/>
          </a:prstGeom>
          <a:noFill/>
          <a:ln/>
        </p:spPr>
        <p:txBody>
          <a:bodyPr wrap="square" lIns="0" tIns="0" rIns="0" bIns="0" rtlCol="0" anchor="b"/>
          <a:lstStyle/>
          <a:p>
            <a:pPr algn="ctr" indent="0" marL="0">
              <a:buNone/>
            </a:pPr>
            <a:r>
              <a:rPr lang="en-US" sz="3200" b="1" dirty="0">
                <a:solidFill>
                  <a:srgbClr val="1F5F5B"/>
                </a:solidFill>
                <a:latin typeface="Cambria" pitchFamily="34" charset="0"/>
                <a:ea typeface="Cambria" pitchFamily="34" charset="-122"/>
                <a:cs typeface="Cambria" pitchFamily="34" charset="-120"/>
              </a:rPr>
              <a:t>239</a:t>
            </a:r>
            <a:endParaRPr lang="en-US" sz="3200" dirty="0"/>
          </a:p>
        </p:txBody>
      </p:sp>
      <p:sp>
        <p:nvSpPr>
          <p:cNvPr id="11" name="Text 9"/>
          <p:cNvSpPr txBox="1"/>
          <p:nvPr/>
        </p:nvSpPr>
        <p:spPr>
          <a:xfrm>
            <a:off x="4352544" y="2103120"/>
            <a:ext cx="1600200" cy="521208"/>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unit/integration tests</a:t>
            </a:r>
            <a:endParaRPr lang="en-US" sz="1100" dirty="0"/>
          </a:p>
        </p:txBody>
      </p:sp>
      <p:sp>
        <p:nvSpPr>
          <p:cNvPr id="12" name="Shape 10"/>
          <p:cNvSpPr/>
          <p:nvPr/>
        </p:nvSpPr>
        <p:spPr>
          <a:xfrm>
            <a:off x="6117336" y="1280160"/>
            <a:ext cx="1783080" cy="1371600"/>
          </a:xfrm>
          <a:prstGeom prst="roundRect">
            <a:avLst>
              <a:gd name="adj" fmla="val 5333"/>
            </a:avLst>
          </a:prstGeom>
          <a:solidFill>
            <a:srgbClr val="EDF4F3"/>
          </a:solidFill>
          <a:ln/>
          <a:effectLst>
            <a:outerShdw sx="100000" sy="100000" kx="0" ky="0" algn="bl" rotWithShape="0" blurRad="50800" dist="25400" dir="5400000">
              <a:srgbClr val="888888">
                <a:alpha val="25000"/>
              </a:srgbClr>
            </a:outerShdw>
          </a:effectLst>
        </p:spPr>
      </p:sp>
      <p:sp>
        <p:nvSpPr>
          <p:cNvPr id="13" name="Text 11"/>
          <p:cNvSpPr txBox="1"/>
          <p:nvPr/>
        </p:nvSpPr>
        <p:spPr>
          <a:xfrm>
            <a:off x="6117336" y="1389888"/>
            <a:ext cx="1783080" cy="754380"/>
          </a:xfrm>
          <a:prstGeom prst="rect">
            <a:avLst/>
          </a:prstGeom>
          <a:noFill/>
          <a:ln/>
        </p:spPr>
        <p:txBody>
          <a:bodyPr wrap="square" lIns="0" tIns="0" rIns="0" bIns="0" rtlCol="0" anchor="b"/>
          <a:lstStyle/>
          <a:p>
            <a:pPr algn="ctr" indent="0" marL="0">
              <a:buNone/>
            </a:pPr>
            <a:r>
              <a:rPr lang="en-US" sz="3200" b="1" dirty="0">
                <a:solidFill>
                  <a:srgbClr val="1F5F5B"/>
                </a:solidFill>
                <a:latin typeface="Cambria" pitchFamily="34" charset="0"/>
                <a:ea typeface="Cambria" pitchFamily="34" charset="-122"/>
                <a:cs typeface="Cambria" pitchFamily="34" charset="-120"/>
              </a:rPr>
              <a:t>66</a:t>
            </a:r>
            <a:endParaRPr lang="en-US" sz="3200" dirty="0"/>
          </a:p>
        </p:txBody>
      </p:sp>
      <p:sp>
        <p:nvSpPr>
          <p:cNvPr id="14" name="Text 12"/>
          <p:cNvSpPr txBox="1"/>
          <p:nvPr/>
        </p:nvSpPr>
        <p:spPr>
          <a:xfrm>
            <a:off x="6208776" y="2103120"/>
            <a:ext cx="1600200" cy="521208"/>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end-to-end steps</a:t>
            </a:r>
            <a:endParaRPr lang="en-US" sz="1100" dirty="0"/>
          </a:p>
        </p:txBody>
      </p:sp>
      <p:sp>
        <p:nvSpPr>
          <p:cNvPr id="15" name="Shape 13"/>
          <p:cNvSpPr/>
          <p:nvPr/>
        </p:nvSpPr>
        <p:spPr>
          <a:xfrm>
            <a:off x="7973568" y="1280160"/>
            <a:ext cx="1783080" cy="1371600"/>
          </a:xfrm>
          <a:prstGeom prst="roundRect">
            <a:avLst>
              <a:gd name="adj" fmla="val 5333"/>
            </a:avLst>
          </a:prstGeom>
          <a:solidFill>
            <a:srgbClr val="EDF4F3"/>
          </a:solidFill>
          <a:ln/>
          <a:effectLst>
            <a:outerShdw sx="100000" sy="100000" kx="0" ky="0" algn="bl" rotWithShape="0" blurRad="50800" dist="25400" dir="5400000">
              <a:srgbClr val="888888">
                <a:alpha val="25000"/>
              </a:srgbClr>
            </a:outerShdw>
          </a:effectLst>
        </p:spPr>
      </p:sp>
      <p:sp>
        <p:nvSpPr>
          <p:cNvPr id="16" name="Text 14"/>
          <p:cNvSpPr txBox="1"/>
          <p:nvPr/>
        </p:nvSpPr>
        <p:spPr>
          <a:xfrm>
            <a:off x="7973568" y="1389888"/>
            <a:ext cx="1783080" cy="754380"/>
          </a:xfrm>
          <a:prstGeom prst="rect">
            <a:avLst/>
          </a:prstGeom>
          <a:noFill/>
          <a:ln/>
        </p:spPr>
        <p:txBody>
          <a:bodyPr wrap="square" lIns="0" tIns="0" rIns="0" bIns="0" rtlCol="0" anchor="b"/>
          <a:lstStyle/>
          <a:p>
            <a:pPr algn="ctr" indent="0" marL="0">
              <a:buNone/>
            </a:pPr>
            <a:r>
              <a:rPr lang="en-US" sz="3200" b="1" dirty="0">
                <a:solidFill>
                  <a:srgbClr val="1F5F5B"/>
                </a:solidFill>
                <a:latin typeface="Cambria" pitchFamily="34" charset="0"/>
                <a:ea typeface="Cambria" pitchFamily="34" charset="-122"/>
                <a:cs typeface="Cambria" pitchFamily="34" charset="-120"/>
              </a:rPr>
              <a:t>3</a:t>
            </a:r>
            <a:endParaRPr lang="en-US" sz="3200" dirty="0"/>
          </a:p>
        </p:txBody>
      </p:sp>
      <p:sp>
        <p:nvSpPr>
          <p:cNvPr id="17" name="Text 15"/>
          <p:cNvSpPr txBox="1"/>
          <p:nvPr/>
        </p:nvSpPr>
        <p:spPr>
          <a:xfrm>
            <a:off x="8065008" y="2103120"/>
            <a:ext cx="1600200" cy="521208"/>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load-balancing layers¹</a:t>
            </a:r>
            <a:endParaRPr lang="en-US" sz="1100" dirty="0"/>
          </a:p>
        </p:txBody>
      </p:sp>
      <p:sp>
        <p:nvSpPr>
          <p:cNvPr id="18" name="Shape 16"/>
          <p:cNvSpPr/>
          <p:nvPr/>
        </p:nvSpPr>
        <p:spPr>
          <a:xfrm>
            <a:off x="9829800" y="1280160"/>
            <a:ext cx="1783080" cy="1371600"/>
          </a:xfrm>
          <a:prstGeom prst="roundRect">
            <a:avLst>
              <a:gd name="adj" fmla="val 5333"/>
            </a:avLst>
          </a:prstGeom>
          <a:solidFill>
            <a:srgbClr val="EDF4F3"/>
          </a:solidFill>
          <a:ln/>
          <a:effectLst>
            <a:outerShdw sx="100000" sy="100000" kx="0" ky="0" algn="bl" rotWithShape="0" blurRad="50800" dist="25400" dir="5400000">
              <a:srgbClr val="888888">
                <a:alpha val="25000"/>
              </a:srgbClr>
            </a:outerShdw>
          </a:effectLst>
        </p:spPr>
      </p:sp>
      <p:sp>
        <p:nvSpPr>
          <p:cNvPr id="19" name="Text 17"/>
          <p:cNvSpPr txBox="1"/>
          <p:nvPr/>
        </p:nvSpPr>
        <p:spPr>
          <a:xfrm>
            <a:off x="9829800" y="1389888"/>
            <a:ext cx="1783080" cy="754380"/>
          </a:xfrm>
          <a:prstGeom prst="rect">
            <a:avLst/>
          </a:prstGeom>
          <a:noFill/>
          <a:ln/>
        </p:spPr>
        <p:txBody>
          <a:bodyPr wrap="square" lIns="0" tIns="0" rIns="0" bIns="0" rtlCol="0" anchor="b"/>
          <a:lstStyle/>
          <a:p>
            <a:pPr algn="ctr" indent="0" marL="0">
              <a:buNone/>
            </a:pPr>
            <a:r>
              <a:rPr lang="en-US" sz="3200" b="1" dirty="0">
                <a:solidFill>
                  <a:srgbClr val="1F5F5B"/>
                </a:solidFill>
                <a:latin typeface="Cambria" pitchFamily="34" charset="0"/>
                <a:ea typeface="Cambria" pitchFamily="34" charset="-122"/>
                <a:cs typeface="Cambria" pitchFamily="34" charset="-120"/>
              </a:rPr>
              <a:t>0</a:t>
            </a:r>
            <a:endParaRPr lang="en-US" sz="3200" dirty="0"/>
          </a:p>
        </p:txBody>
      </p:sp>
      <p:sp>
        <p:nvSpPr>
          <p:cNvPr id="20" name="Text 18"/>
          <p:cNvSpPr txBox="1"/>
          <p:nvPr/>
        </p:nvSpPr>
        <p:spPr>
          <a:xfrm>
            <a:off x="9921240" y="2103120"/>
            <a:ext cx="1600200" cy="521208"/>
          </a:xfrm>
          <a:prstGeom prst="rect">
            <a:avLst/>
          </a:prstGeom>
          <a:noFill/>
          <a:ln/>
        </p:spPr>
        <p:txBody>
          <a:bodyPr wrap="square" lIns="0" tIns="0" rIns="0" bIns="0" rtlCol="0" anchor="t"/>
          <a:lstStyle/>
          <a:p>
            <a:pPr algn="ctr" indent="0" marL="0">
              <a:buNone/>
            </a:pPr>
            <a:r>
              <a:rPr lang="en-US" sz="1100" dirty="0">
                <a:solidFill>
                  <a:srgbClr val="3B4F56"/>
                </a:solidFill>
                <a:latin typeface="Calibri" pitchFamily="34" charset="0"/>
                <a:ea typeface="Calibri" pitchFamily="34" charset="-122"/>
                <a:cs typeface="Calibri" pitchFamily="34" charset="-120"/>
              </a:rPr>
              <a:t>CSP violations</a:t>
            </a:r>
            <a:endParaRPr lang="en-US" sz="1100" dirty="0"/>
          </a:p>
        </p:txBody>
      </p:sp>
      <p:sp>
        <p:nvSpPr>
          <p:cNvPr id="21" name="Text 19"/>
          <p:cNvSpPr/>
          <p:nvPr/>
        </p:nvSpPr>
        <p:spPr>
          <a:xfrm>
            <a:off x="548640" y="3017520"/>
            <a:ext cx="11064240" cy="2377440"/>
          </a:xfrm>
          <a:prstGeom prst="rect">
            <a:avLst/>
          </a:prstGeom>
          <a:noFill/>
          <a:ln/>
        </p:spPr>
        <p:txBody>
          <a:bodyPr wrap="square" rtlCol="0" anchor="t"/>
          <a:lstStyle/>
          <a:p>
            <a:pPr marL="342900" indent="-342900">
              <a:spcAft>
                <a:spcPts val="1000"/>
              </a:spcAft>
              <a:buSzPct val="100000"/>
              <a:buChar char="●"/>
            </a:pPr>
            <a:r>
              <a:rPr lang="en-US" sz="1400" b="1" dirty="0">
                <a:solidFill>
                  <a:srgbClr val="16252A"/>
                </a:solidFill>
                <a:latin typeface="Calibri" pitchFamily="34" charset="0"/>
                <a:ea typeface="Calibri" pitchFamily="34" charset="-122"/>
                <a:cs typeface="Calibri" pitchFamily="34" charset="-120"/>
              </a:rPr>
              <a:t>Every design choice in this deck traces back to a test that proves it — we didn't just design for failure isolation, zero downtime and least-privilege access, we measured them.</a:t>
            </a:r>
            <a:endParaRPr lang="en-US" sz="1400" dirty="0"/>
          </a:p>
          <a:p>
            <a:pPr marL="342900" indent="-342900">
              <a:spcAft>
                <a:spcPts val="1000"/>
              </a:spcAft>
              <a:buSzPct val="100000"/>
              <a:buChar char="●"/>
            </a:pPr>
            <a:r>
              <a:rPr lang="en-US" sz="1400" dirty="0">
                <a:solidFill>
                  <a:srgbClr val="16252A"/>
                </a:solidFill>
                <a:latin typeface="Calibri" pitchFamily="34" charset="0"/>
                <a:ea typeface="Calibri" pitchFamily="34" charset="-122"/>
                <a:cs typeface="Calibri" pitchFamily="34" charset="-120"/>
              </a:rPr>
              <a:t>Open item, highest priority: dependency versions carry known CVEs (Spring Boot 3.3.x / Angular 19 line) — upgrade planned, security scan currently runs in report-only mode until it's done.</a:t>
            </a:r>
            <a:endParaRPr lang="en-US" sz="1400" dirty="0"/>
          </a:p>
          <a:p>
            <a:pPr marL="342900" indent="-342900">
              <a:spcAft>
                <a:spcPts val="1000"/>
              </a:spcAft>
              <a:buSzPct val="100000"/>
              <a:buChar char="●"/>
            </a:pPr>
            <a:r>
              <a:rPr lang="en-US" sz="1400" dirty="0">
                <a:solidFill>
                  <a:srgbClr val="16252A"/>
                </a:solidFill>
                <a:latin typeface="Calibri" pitchFamily="34" charset="0"/>
                <a:ea typeface="Calibri" pitchFamily="34" charset="-122"/>
                <a:cs typeface="Calibri" pitchFamily="34" charset="-120"/>
              </a:rPr>
              <a:t>Admin two-factor login is built and tested both ways, ready to switch on once every administrator has an authenticator app.</a:t>
            </a:r>
            <a:endParaRPr lang="en-US" sz="1400" dirty="0"/>
          </a:p>
        </p:txBody>
      </p:sp>
      <p:sp>
        <p:nvSpPr>
          <p:cNvPr id="22" name="Text 20"/>
          <p:cNvSpPr txBox="1"/>
          <p:nvPr/>
        </p:nvSpPr>
        <p:spPr>
          <a:xfrm>
            <a:off x="548640" y="6309360"/>
            <a:ext cx="10058400" cy="320040"/>
          </a:xfrm>
          <a:prstGeom prst="rect">
            <a:avLst/>
          </a:prstGeom>
          <a:noFill/>
          <a:ln/>
        </p:spPr>
        <p:txBody>
          <a:bodyPr wrap="square" lIns="0" tIns="0" rIns="0" bIns="0" rtlCol="0" anchor="ctr"/>
          <a:lstStyle/>
          <a:p>
            <a:pPr indent="0" marL="0">
              <a:buNone/>
            </a:pPr>
            <a:r>
              <a:rPr lang="en-US" sz="950" i="1" dirty="0">
                <a:solidFill>
                  <a:srgbClr val="3B4F56"/>
                </a:solidFill>
                <a:latin typeface="Calibri" pitchFamily="34" charset="0"/>
                <a:ea typeface="Calibri" pitchFamily="34" charset="-122"/>
                <a:cs typeface="Calibri" pitchFamily="34" charset="-120"/>
              </a:rPr>
              <a:t>¹ nginx → gateway, gateway → service, service → service</a:t>
            </a:r>
            <a:endParaRPr lang="en-US" sz="950" dirty="0"/>
          </a:p>
        </p:txBody>
      </p:sp>
      <p:sp>
        <p:nvSpPr>
          <p:cNvPr id="24" name="Text 2"/>
          <p:cNvSpPr/>
          <p:nvPr>
            <p:ph idx="103" type="body" hasCustomPrompt="1"/>
          </p:nvPr>
        </p:nvSpPr>
        <p:spPr>
          <a:xfrm>
            <a:off x="548640" y="1188720"/>
            <a:ext cx="11064240" cy="5212080"/>
          </a:xfrm>
          <a:prstGeom prst="rect">
            <a:avLst/>
          </a:prstGeom>
          <a:noFill/>
          <a:ln/>
        </p:spPr>
        <p:txBody>
          <a:bodyPr wrap="square" rtlCol="0" anchor="t"/>
          <a:lstStyle/>
          <a:p>
            <a:pPr algn="l" indent="0" marL="0">
              <a:buNone/>
            </a:pPr>
            <a:endParaRPr lang="en-US" sz="1500" dirty="0"/>
          </a:p>
        </p:txBody>
      </p:sp>
      <p:sp>
        <p:nvSpPr>
          <p:cNvPr id="25" name="Slide Number Placeholder 0"/>
          <p:cNvSpPr>
            <a:spLocks noGrp="1"/>
          </p:cNvSpPr>
          <p:nvPr>
            <p:ph type="sldNum" sz="quarter" idx="4294967295"/>
          </p:nvPr>
        </p:nvSpPr>
        <p:spPr>
          <a:xfrm>
            <a:off x="1120140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A6A3"/>
                </a:solidFill>
                <a:latin typeface="Calibri"/>
                <a:ea typeface="Calibri"/>
                <a:cs typeface="Calibri"/>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title" hasCustomPrompt="1"/>
          </p:nvPr>
        </p:nvSpPr>
        <p:spPr>
          <a:xfrm>
            <a:off x="822960" y="2331720"/>
            <a:ext cx="10515600" cy="137160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2"/>
          <p:cNvSpPr/>
          <p:nvPr>
            <p:ph idx="103" type="body" hasCustomPrompt="1"/>
          </p:nvPr>
        </p:nvSpPr>
        <p:spPr>
          <a:xfrm>
            <a:off x="822960" y="4343400"/>
            <a:ext cx="9875520" cy="1097280"/>
          </a:xfrm>
          <a:prstGeom prst="rect">
            <a:avLst/>
          </a:prstGeom>
          <a:noFill/>
          <a:ln/>
        </p:spPr>
        <p:txBody>
          <a:bodyPr wrap="square" rtlCol="0" anchor="t"/>
          <a:lstStyle/>
          <a:p>
            <a:pPr algn="l" indent="0" marL="0">
              <a:buNone/>
            </a:pPr>
            <a:r>
              <a:rPr lang="en-US" sz="1700" dirty="0">
                <a:solidFill>
                  <a:srgbClr val="F6EBDD"/>
                </a:solidFill>
                <a:latin typeface="Calibri" pitchFamily="34" charset="0"/>
                <a:ea typeface="Calibri" pitchFamily="34" charset="-122"/>
                <a:cs typeface="Calibri" pitchFamily="34" charset="-120"/>
              </a:rPr>
              <a:t>Questions?</a:t>
            </a:r>
            <a:endParaRPr lang="en-US" sz="1700" dirty="0"/>
          </a:p>
        </p:txBody>
      </p:sp>
    </p:spTree>
  </p:cSld>
  <p:clrMapOvr>
    <a:masterClrMapping/>
  </p:clrMapOvr>
</p:sld>
</file>

<file path=ppt/theme/theme1.xml><?xml version="1.0" encoding="utf-8"?>
<a:theme xmlns:a="http://schemas.openxmlformats.org/drawingml/2006/main" name="UCMS Teal">
  <a:themeElements>
    <a:clrScheme name="UCMS Teal">
      <a:dk1>
        <a:srgbClr val="16252A"/>
      </a:dk1>
      <a:lt1>
        <a:srgbClr val="FFFFFF"/>
      </a:lt1>
      <a:dk2>
        <a:srgbClr val="1F5F5B"/>
      </a:dk2>
      <a:lt2>
        <a:srgbClr val="EDF4F3"/>
      </a:lt2>
      <a:accent1>
        <a:srgbClr val="2F7D77"/>
      </a:accent1>
      <a:accent2>
        <a:srgbClr val="C98A3B"/>
      </a:accent2>
      <a:accent3>
        <a:srgbClr val="3B4F56"/>
      </a:accent3>
      <a:accent4>
        <a:srgbClr val="8AA6A3"/>
      </a:accent4>
      <a:accent5>
        <a:srgbClr val="0E3E3B"/>
      </a:accent5>
      <a:accent6>
        <a:srgbClr val="F6EBDD"/>
      </a:accent6>
      <a:hlink>
        <a:srgbClr val="2F7D77"/>
      </a:hlink>
      <a:folHlink>
        <a:srgbClr val="0E3E3B"/>
      </a:folHlink>
    </a:clrScheme>
    <a:fontScheme name="UCMS Teal">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2026-10-29T15:04:24Z</dcterms:created>
  <dcterms:modified xsi:type="dcterms:W3CDTF">2026-10-29T15:04:24Z</dcterms:modified>
</cp:coreProperties>
</file>